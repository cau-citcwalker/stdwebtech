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0" r:id="rId3"/>
    <p:sldId id="262" r:id="rId4"/>
    <p:sldId id="264" r:id="rId5"/>
    <p:sldId id="266" r:id="rId6"/>
    <p:sldId id="268" r:id="rId7"/>
    <p:sldId id="270" r:id="rId8"/>
    <p:sldId id="272" r:id="rId9"/>
    <p:sldId id="274" r:id="rId10"/>
    <p:sldId id="276" r:id="rId11"/>
    <p:sldId id="277" r:id="rId12"/>
    <p:sldId id="279" r:id="rId13"/>
    <p:sldId id="281" r:id="rId14"/>
    <p:sldId id="283" r:id="rId15"/>
    <p:sldId id="284" r:id="rId16"/>
    <p:sldId id="286" r:id="rId17"/>
    <p:sldId id="28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4"/>
  </p:normalViewPr>
  <p:slideViewPr>
    <p:cSldViewPr snapToGrid="0">
      <p:cViewPr varScale="1">
        <p:scale>
          <a:sx n="90" d="100"/>
          <a:sy n="90" d="100"/>
        </p:scale>
        <p:origin x="21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2B2181-4EBC-A3C2-BCF3-51E428421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12FC5A-E3C7-B23E-2E44-620655862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1DA2C-9064-ACAC-DB8C-426C8B4A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E7716C-85E6-A967-4EA7-4D4E4EC3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B96AE4-E5E8-422C-C3E2-8E1DC661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47782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BCF20-BE9E-7C29-FC42-AECF16E58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585ADD-D9A2-4D3E-7E46-706893AC6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AD2BF5-B0A8-1AE8-5583-69B52A8BA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37C2F9-A136-8698-3C16-9109111F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BBF7E9-1A73-00DB-C337-0F47A08B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451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D5556-29F4-9E17-8BB1-BD957C8EE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6113FD-33EC-DB85-1D38-4772EA3AA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356D70-39C0-D733-70CA-A9FA9B2BF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7D58B0-68AC-ED8D-645B-590E3227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720A99-25DD-0434-BA1B-6DBC17EE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842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34AF2-B9B5-071B-EFA8-AB2B662A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8BCE90-81EE-D432-710F-E865F6EC8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ABACEF-C57C-1EC8-3A9D-DBEF22DF7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463B11-4591-5C60-59D0-A3318AEC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F8E2FF-2398-43BD-9E8F-C068C67B5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5DB01C-D6E0-75A0-BED4-3BA2E167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262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A1054-8AB8-368F-7B3A-179E8BF7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2A8662-F333-AC2E-2F0D-40352BD19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6F9FDD-EF8C-5F77-4619-EE1E0CB95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D46D8A-0D58-6396-CF0B-405B71650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4C5C1C-41CE-1D59-2118-D4AC584FD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1ECDF28-A7A8-56DB-A71F-4D175A4F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E4C2CF-7A1B-BF3F-63DE-67E228F4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80DDBB-52FE-CC66-C410-18989233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22109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47CA7-E309-3889-304E-09B9C2FB1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249ECA-8AA7-05EE-B6F2-3575C2F9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1FA428-8668-CC16-39D2-34789F0B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4077E9-3D49-C21B-8BF7-6A179C7C7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14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3A0101-2998-A049-F39D-404C0756C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E73A64-AE7C-2A17-9AF4-898D907A7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362492-864A-F59C-AA22-17897E34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45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81298-D081-F847-950B-004DF7CF6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1B7118-2605-3A06-F803-B74451FD0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1BDB9F-6915-7B39-6589-DB065107D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537037-4E9C-15F4-5ED1-41D2D5203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23A6B1-FAA4-255C-A34A-FC1430D7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373E0F-AC2C-EF32-87F2-EF650EB6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212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18EBD-6C20-0595-6B72-D780E32BF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D4BD5F-C2DE-CBCE-A3E4-C2E319027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586AA4-8BC8-B556-E983-1C9551363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BB33BF-EA6C-149D-7F21-2E7C2F2D1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9FCCA0-D860-3181-70FF-B0799682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D83552-941A-9886-8772-456F4982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669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8D423-E6BF-250D-268B-ED45D3D7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68E04F-F340-1B3E-0DC9-AB19F058B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921B6A-0363-94F6-8451-A5CE7B2A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560001-5F70-04ED-298B-77AB8B51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A99D1B-8050-A7E8-E7E2-CC925F760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2041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925B15-04D1-EC7E-DE7D-D74A78B1C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EBC19D-4539-70CC-D0E7-D0ABFB1F7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5ADE9B-80BF-1BA1-27A0-677F54F5E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342E6-06B4-64C4-934F-76B521038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CE42C6-C57B-F962-EA07-4DA0AF1C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3064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BE8098-9E65-7A9A-7CEE-52B511B68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C411FE-02FC-17D8-AF43-261617120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5AE361-2410-E90A-6F03-28884BD6C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954E9-2174-1146-A0A8-7703AA6F8467}" type="datetimeFigureOut">
              <a:rPr kumimoji="1" lang="ko-KR" altLang="en-US" smtClean="0"/>
              <a:t>2026. 5. 28.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7D7F33-51A2-3110-6151-2984AADA90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2F527-AF6F-AF40-93B0-1C6EDD4AB7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BFC59C-44FA-B146-8CDE-437BFAD2C18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900" name="BrandAccent"/>
          <p:cNvSpPr/>
          <p:nvPr userDrawn="1"/>
        </p:nvSpPr>
        <p:spPr>
          <a:xfrm>
            <a:off x="0" y="6553200"/>
            <a:ext cx="9144000" cy="38100"/>
          </a:xfrm>
          <a:prstGeom prst="rect">
            <a:avLst/>
          </a:prstGeom>
          <a:gradFill flip="none" rotWithShape="1">
            <a:gsLst>
              <a:gs pos="0">
                <a:srgbClr val="4154F1"/>
              </a:gs>
              <a:gs pos="100000">
                <a:srgbClr val="7C5CFC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608674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1A2E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1A2E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1A2E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2E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2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2E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2E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2E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2E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67711C0-5CA8-414C-A8D5-EDECB08281C4}"/>
              </a:ext>
            </a:extLst>
          </p:cNvPr>
          <p:cNvSpPr/>
          <p:nvPr/>
        </p:nvSpPr>
        <p:spPr>
          <a:xfrm>
            <a:off x="762000" y="635000"/>
            <a:ext cx="482600" cy="4826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FFFFFF"/>
                </a:solidFill>
              </a:rPr>
              <a:t>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27E7B-384C-1345-AA64-8CEE10B5C458}"/>
              </a:ext>
            </a:extLst>
          </p:cNvPr>
          <p:cNvSpPr txBox="1"/>
          <p:nvPr/>
        </p:nvSpPr>
        <p:spPr>
          <a:xfrm>
            <a:off x="1371600" y="7112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1A1A2E"/>
                </a:solidFill>
              </a:rPr>
              <a:t>FinEdu</a:t>
            </a:r>
            <a:endParaRPr lang="ko-KR" altLang="en-US" sz="2000" b="1">
              <a:solidFill>
                <a:srgbClr val="1A1A2E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68451A7-5361-C447-81B4-FD660E8D6E0D}"/>
              </a:ext>
            </a:extLst>
          </p:cNvPr>
          <p:cNvSpPr/>
          <p:nvPr/>
        </p:nvSpPr>
        <p:spPr>
          <a:xfrm>
            <a:off x="762000" y="1651000"/>
            <a:ext cx="3683000" cy="4318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768F7-B7EF-254C-8D8D-AC16289F225E}"/>
              </a:ext>
            </a:extLst>
          </p:cNvPr>
          <p:cNvSpPr txBox="1"/>
          <p:nvPr/>
        </p:nvSpPr>
        <p:spPr>
          <a:xfrm>
            <a:off x="952500" y="1739900"/>
            <a:ext cx="203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4154F1"/>
                </a:solidFill>
              </a:rPr>
              <a:t>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BD74C-96FE-A94B-8D4B-5E4624837C72}"/>
              </a:ext>
            </a:extLst>
          </p:cNvPr>
          <p:cNvSpPr txBox="1"/>
          <p:nvPr/>
        </p:nvSpPr>
        <p:spPr>
          <a:xfrm>
            <a:off x="1219200" y="1739900"/>
            <a:ext cx="330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 b="1">
                <a:solidFill>
                  <a:srgbClr val="4154F1"/>
                </a:solidFill>
              </a:rPr>
              <a:t>한국어로 배우는 금융</a:t>
            </a:r>
            <a:r>
              <a:rPr lang="en-US" altLang="ko-KR" sz="1200" b="1">
                <a:solidFill>
                  <a:srgbClr val="4154F1"/>
                </a:solidFill>
              </a:rPr>
              <a:t>·</a:t>
            </a:r>
            <a:r>
              <a:rPr lang="ko-KR" altLang="en-US" sz="1200" b="1">
                <a:solidFill>
                  <a:srgbClr val="4154F1"/>
                </a:solidFill>
              </a:rPr>
              <a:t>경제 학습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BD61A-752C-A146-B8C1-4465437E6AAF}"/>
              </a:ext>
            </a:extLst>
          </p:cNvPr>
          <p:cNvSpPr txBox="1"/>
          <p:nvPr/>
        </p:nvSpPr>
        <p:spPr>
          <a:xfrm>
            <a:off x="762000" y="2286000"/>
            <a:ext cx="6096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5200" b="1">
                <a:solidFill>
                  <a:srgbClr val="1A1A2E"/>
                </a:solidFill>
              </a:rPr>
              <a:t>주식</a:t>
            </a:r>
            <a:r>
              <a:rPr lang="en-US" altLang="ko-KR" sz="5200" b="1">
                <a:solidFill>
                  <a:srgbClr val="1A1A2E"/>
                </a:solidFill>
              </a:rPr>
              <a:t>,</a:t>
            </a:r>
            <a:endParaRPr lang="ko-KR" altLang="en-US" sz="5200" b="1">
              <a:solidFill>
                <a:srgbClr val="1A1A2E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A526EC-070D-2547-BCCD-15700FF9E732}"/>
              </a:ext>
            </a:extLst>
          </p:cNvPr>
          <p:cNvSpPr txBox="1"/>
          <p:nvPr/>
        </p:nvSpPr>
        <p:spPr>
          <a:xfrm>
            <a:off x="762000" y="3124200"/>
            <a:ext cx="6096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5200" b="1">
                <a:solidFill>
                  <a:srgbClr val="4154F1"/>
                </a:solidFill>
              </a:rPr>
              <a:t>게임처럼 배워요</a:t>
            </a:r>
            <a:r>
              <a:rPr lang="en-US" altLang="ko-KR" sz="5200" b="1">
                <a:solidFill>
                  <a:srgbClr val="4154F1"/>
                </a:solidFill>
              </a:rPr>
              <a:t>.</a:t>
            </a:r>
            <a:endParaRPr lang="ko-KR" altLang="en-US" sz="5200" b="1">
              <a:solidFill>
                <a:srgbClr val="4154F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8DF4F8-8275-774A-B685-716FAC105C27}"/>
              </a:ext>
            </a:extLst>
          </p:cNvPr>
          <p:cNvSpPr txBox="1"/>
          <p:nvPr/>
        </p:nvSpPr>
        <p:spPr>
          <a:xfrm>
            <a:off x="762000" y="4089400"/>
            <a:ext cx="609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4B5563"/>
                </a:solidFill>
              </a:rPr>
              <a:t>하루 </a:t>
            </a:r>
            <a:r>
              <a:rPr lang="en-US" altLang="ko-KR" sz="1400">
                <a:solidFill>
                  <a:srgbClr val="4B5563"/>
                </a:solidFill>
              </a:rPr>
              <a:t>5</a:t>
            </a:r>
            <a:r>
              <a:rPr lang="ko-KR" altLang="en-US" sz="1400">
                <a:solidFill>
                  <a:srgbClr val="4B5563"/>
                </a:solidFill>
              </a:rPr>
              <a:t>분</a:t>
            </a:r>
            <a:r>
              <a:rPr lang="en-US" altLang="ko-KR" sz="1400">
                <a:solidFill>
                  <a:srgbClr val="4B5563"/>
                </a:solidFill>
              </a:rPr>
              <a:t>, </a:t>
            </a:r>
            <a:r>
              <a:rPr lang="ko-KR" altLang="en-US" sz="1400">
                <a:solidFill>
                  <a:srgbClr val="4B5563"/>
                </a:solidFill>
              </a:rPr>
              <a:t>친구처럼 알려주는 주식</a:t>
            </a:r>
            <a:r>
              <a:rPr lang="en-US" altLang="ko-KR" sz="1400">
                <a:solidFill>
                  <a:srgbClr val="4B5563"/>
                </a:solidFill>
              </a:rPr>
              <a:t>·</a:t>
            </a:r>
            <a:r>
              <a:rPr lang="ko-KR" altLang="en-US" sz="1400">
                <a:solidFill>
                  <a:srgbClr val="4B5563"/>
                </a:solidFill>
              </a:rPr>
              <a:t>자산 학습</a:t>
            </a:r>
            <a:r>
              <a:rPr lang="en-US" altLang="ko-KR" sz="1400">
                <a:solidFill>
                  <a:srgbClr val="4B5563"/>
                </a:solidFill>
              </a:rPr>
              <a:t>.</a:t>
            </a:r>
            <a:endParaRPr lang="ko-KR" altLang="en-US" sz="1400">
              <a:solidFill>
                <a:srgbClr val="4B5563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4B6A1DF-55CD-2E46-84C8-1AD0105817BC}"/>
              </a:ext>
            </a:extLst>
          </p:cNvPr>
          <p:cNvSpPr/>
          <p:nvPr/>
        </p:nvSpPr>
        <p:spPr>
          <a:xfrm>
            <a:off x="762000" y="4572000"/>
            <a:ext cx="2095500" cy="5588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</a:rPr>
              <a:t>무료로 시작 →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2B61C3A-97A8-F247-A6F2-3F437FF8ABDA}"/>
              </a:ext>
            </a:extLst>
          </p:cNvPr>
          <p:cNvSpPr/>
          <p:nvPr/>
        </p:nvSpPr>
        <p:spPr>
          <a:xfrm>
            <a:off x="2984500" y="4572000"/>
            <a:ext cx="1651000" cy="5588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A1A2E"/>
                </a:solidFill>
              </a:rPr>
              <a:t>둘러보기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F4AF679-637B-9440-B752-8AB386925757}"/>
              </a:ext>
            </a:extLst>
          </p:cNvPr>
          <p:cNvSpPr/>
          <p:nvPr/>
        </p:nvSpPr>
        <p:spPr>
          <a:xfrm>
            <a:off x="762000" y="5397500"/>
            <a:ext cx="254000" cy="254000"/>
          </a:xfrm>
          <a:prstGeom prst="ellipse">
            <a:avLst/>
          </a:prstGeom>
          <a:solidFill>
            <a:srgbClr val="4154F1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A383E39-88C1-9D43-B40C-5FD313FC4528}"/>
              </a:ext>
            </a:extLst>
          </p:cNvPr>
          <p:cNvSpPr/>
          <p:nvPr/>
        </p:nvSpPr>
        <p:spPr>
          <a:xfrm>
            <a:off x="939800" y="5397500"/>
            <a:ext cx="254000" cy="254000"/>
          </a:xfrm>
          <a:prstGeom prst="ellipse">
            <a:avLst/>
          </a:prstGeom>
          <a:solidFill>
            <a:srgbClr val="7C5CFC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EA47770-F3B4-3448-8FE4-3CAF90A50504}"/>
              </a:ext>
            </a:extLst>
          </p:cNvPr>
          <p:cNvSpPr/>
          <p:nvPr/>
        </p:nvSpPr>
        <p:spPr>
          <a:xfrm>
            <a:off x="1117600" y="5397500"/>
            <a:ext cx="254000" cy="254000"/>
          </a:xfrm>
          <a:prstGeom prst="ellipse">
            <a:avLst/>
          </a:prstGeom>
          <a:solidFill>
            <a:srgbClr val="FFB400"/>
          </a:solidFill>
          <a:ln w="2540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1BA764-95DE-EE47-9A9F-B011672994C2}"/>
              </a:ext>
            </a:extLst>
          </p:cNvPr>
          <p:cNvSpPr txBox="1"/>
          <p:nvPr/>
        </p:nvSpPr>
        <p:spPr>
          <a:xfrm>
            <a:off x="1270000" y="54102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4B5563"/>
                </a:solidFill>
              </a:rPr>
              <a:t>이미 </a:t>
            </a:r>
            <a:r>
              <a:rPr lang="en-US" altLang="ko-KR" sz="1200">
                <a:solidFill>
                  <a:srgbClr val="4B5563"/>
                </a:solidFill>
              </a:rPr>
              <a:t>5,231</a:t>
            </a:r>
            <a:r>
              <a:rPr lang="ko-KR" altLang="en-US" sz="1200">
                <a:solidFill>
                  <a:srgbClr val="4B5563"/>
                </a:solidFill>
              </a:rPr>
              <a:t>명이 학습 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A6212B-5F4F-7A43-9764-6178A822B2CA}"/>
              </a:ext>
            </a:extLst>
          </p:cNvPr>
          <p:cNvSpPr txBox="1"/>
          <p:nvPr/>
        </p:nvSpPr>
        <p:spPr>
          <a:xfrm>
            <a:off x="762000" y="6159500"/>
            <a:ext cx="609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94A3B8"/>
                </a:solidFill>
              </a:rPr>
              <a:t>강예준 </a:t>
            </a:r>
            <a:r>
              <a:rPr lang="en-US" altLang="ko-KR" sz="1100">
                <a:solidFill>
                  <a:srgbClr val="94A3B8"/>
                </a:solidFill>
              </a:rPr>
              <a:t>20250813  ·  </a:t>
            </a:r>
            <a:r>
              <a:rPr lang="ko-KR" altLang="en-US" sz="1100">
                <a:solidFill>
                  <a:srgbClr val="94A3B8"/>
                </a:solidFill>
              </a:rPr>
              <a:t>김여울 </a:t>
            </a:r>
            <a:r>
              <a:rPr lang="en-US" altLang="ko-KR" sz="1100">
                <a:solidFill>
                  <a:srgbClr val="94A3B8"/>
                </a:solidFill>
              </a:rPr>
              <a:t>20253264  ·  2026.06.02</a:t>
            </a:r>
            <a:endParaRPr lang="ko-KR" altLang="en-US" sz="1100">
              <a:solidFill>
                <a:srgbClr val="94A3B8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F8384EC-5D99-0D4D-B017-396401253E6C}"/>
              </a:ext>
            </a:extLst>
          </p:cNvPr>
          <p:cNvSpPr/>
          <p:nvPr/>
        </p:nvSpPr>
        <p:spPr>
          <a:xfrm>
            <a:off x="7213600" y="1498600"/>
            <a:ext cx="4572000" cy="4064000"/>
          </a:xfrm>
          <a:prstGeom prst="roundRect">
            <a:avLst/>
          </a:prstGeom>
          <a:solidFill>
            <a:srgbClr val="E5E7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4C10E430-F194-804E-9019-6C4866EBE39F}"/>
              </a:ext>
            </a:extLst>
          </p:cNvPr>
          <p:cNvSpPr/>
          <p:nvPr/>
        </p:nvSpPr>
        <p:spPr>
          <a:xfrm>
            <a:off x="7112000" y="1397000"/>
            <a:ext cx="4572000" cy="406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F07DAA2-AEBD-A645-8C36-BD367A34F194}"/>
              </a:ext>
            </a:extLst>
          </p:cNvPr>
          <p:cNvSpPr/>
          <p:nvPr/>
        </p:nvSpPr>
        <p:spPr>
          <a:xfrm>
            <a:off x="7112000" y="1397000"/>
            <a:ext cx="4572000" cy="381000"/>
          </a:xfrm>
          <a:prstGeom prst="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CC7FEDD-33A7-F04F-9E1F-92032B3F25DC}"/>
              </a:ext>
            </a:extLst>
          </p:cNvPr>
          <p:cNvSpPr/>
          <p:nvPr/>
        </p:nvSpPr>
        <p:spPr>
          <a:xfrm>
            <a:off x="7264400" y="1536700"/>
            <a:ext cx="101600" cy="101600"/>
          </a:xfrm>
          <a:prstGeom prst="ellipse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6B11538-AAA0-E949-B0B3-3E024D361FA7}"/>
              </a:ext>
            </a:extLst>
          </p:cNvPr>
          <p:cNvSpPr/>
          <p:nvPr/>
        </p:nvSpPr>
        <p:spPr>
          <a:xfrm>
            <a:off x="7442200" y="1536700"/>
            <a:ext cx="101600" cy="101600"/>
          </a:xfrm>
          <a:prstGeom prst="ellipse">
            <a:avLst/>
          </a:prstGeom>
          <a:solidFill>
            <a:srgbClr val="FBBF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F5FE4E7-95FF-3743-9F4E-A0F5A484E910}"/>
              </a:ext>
            </a:extLst>
          </p:cNvPr>
          <p:cNvSpPr/>
          <p:nvPr/>
        </p:nvSpPr>
        <p:spPr>
          <a:xfrm>
            <a:off x="7620000" y="1536700"/>
            <a:ext cx="101600" cy="1016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3EBE5FA7-04E0-134A-A4B1-2F77F9E890D2}"/>
              </a:ext>
            </a:extLst>
          </p:cNvPr>
          <p:cNvSpPr/>
          <p:nvPr/>
        </p:nvSpPr>
        <p:spPr>
          <a:xfrm>
            <a:off x="7315200" y="1955800"/>
            <a:ext cx="1295400" cy="6350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58E8FF-DFA5-6D4B-8451-3280DC7E4BD3}"/>
              </a:ext>
            </a:extLst>
          </p:cNvPr>
          <p:cNvSpPr txBox="1"/>
          <p:nvPr/>
        </p:nvSpPr>
        <p:spPr>
          <a:xfrm>
            <a:off x="7442200" y="2032000"/>
            <a:ext cx="101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900" b="1">
                <a:solidFill>
                  <a:srgbClr val="4154F1"/>
                </a:solidFill>
              </a:rPr>
              <a:t>XP</a:t>
            </a:r>
            <a:endParaRPr lang="ko-KR" altLang="en-US" sz="900" b="1">
              <a:solidFill>
                <a:srgbClr val="4154F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057FE2-58CE-3249-A332-CDBEC9BB700D}"/>
              </a:ext>
            </a:extLst>
          </p:cNvPr>
          <p:cNvSpPr txBox="1"/>
          <p:nvPr/>
        </p:nvSpPr>
        <p:spPr>
          <a:xfrm>
            <a:off x="7442200" y="22352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 b="1">
                <a:solidFill>
                  <a:srgbClr val="1A1A2E"/>
                </a:solidFill>
              </a:rPr>
              <a:t>1,240</a:t>
            </a:r>
            <a:endParaRPr lang="ko-KR" altLang="en-US" sz="1400" b="1">
              <a:solidFill>
                <a:srgbClr val="1A1A2E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0555F562-C6E2-5E42-AF89-7C9FB92CA35C}"/>
              </a:ext>
            </a:extLst>
          </p:cNvPr>
          <p:cNvSpPr/>
          <p:nvPr/>
        </p:nvSpPr>
        <p:spPr>
          <a:xfrm>
            <a:off x="8737600" y="1955800"/>
            <a:ext cx="1295400" cy="635000"/>
          </a:xfrm>
          <a:prstGeom prst="roundRect">
            <a:avLst/>
          </a:prstGeom>
          <a:solidFill>
            <a:srgbClr val="FEF3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A0C982-267A-EF43-B2DC-3EC633F1C740}"/>
              </a:ext>
            </a:extLst>
          </p:cNvPr>
          <p:cNvSpPr txBox="1"/>
          <p:nvPr/>
        </p:nvSpPr>
        <p:spPr>
          <a:xfrm>
            <a:off x="8864600" y="2032000"/>
            <a:ext cx="101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 b="1">
                <a:solidFill>
                  <a:srgbClr val="B45309"/>
                </a:solidFill>
              </a:rPr>
              <a:t>스트릭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2A26E0-A8ED-1445-9F74-78A4ABB82FED}"/>
              </a:ext>
            </a:extLst>
          </p:cNvPr>
          <p:cNvSpPr txBox="1"/>
          <p:nvPr/>
        </p:nvSpPr>
        <p:spPr>
          <a:xfrm>
            <a:off x="8864600" y="22352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1A2E"/>
                </a:solidFill>
              </a:rPr>
              <a:t>🔥 </a:t>
            </a:r>
            <a:r>
              <a:rPr lang="en-US" altLang="ko-KR" sz="1400" b="1">
                <a:solidFill>
                  <a:srgbClr val="1A1A2E"/>
                </a:solidFill>
              </a:rPr>
              <a:t>12</a:t>
            </a:r>
            <a:endParaRPr lang="ko-KR" altLang="en-US" sz="1400" b="1">
              <a:solidFill>
                <a:srgbClr val="1A1A2E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43C657DE-DF73-B04C-BDA6-12973E3E1531}"/>
              </a:ext>
            </a:extLst>
          </p:cNvPr>
          <p:cNvSpPr/>
          <p:nvPr/>
        </p:nvSpPr>
        <p:spPr>
          <a:xfrm>
            <a:off x="10160000" y="1955800"/>
            <a:ext cx="1295400" cy="635000"/>
          </a:xfrm>
          <a:prstGeom prst="round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934D89-5FD0-644A-99C3-98C8C0DDED06}"/>
              </a:ext>
            </a:extLst>
          </p:cNvPr>
          <p:cNvSpPr txBox="1"/>
          <p:nvPr/>
        </p:nvSpPr>
        <p:spPr>
          <a:xfrm>
            <a:off x="10287000" y="2032000"/>
            <a:ext cx="1016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 b="1">
                <a:solidFill>
                  <a:srgbClr val="047857"/>
                </a:solidFill>
              </a:rPr>
              <a:t>코인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E2BAE0-BF1A-564E-8D4F-E3A29672F015}"/>
              </a:ext>
            </a:extLst>
          </p:cNvPr>
          <p:cNvSpPr txBox="1"/>
          <p:nvPr/>
        </p:nvSpPr>
        <p:spPr>
          <a:xfrm>
            <a:off x="10287000" y="2235200"/>
            <a:ext cx="114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1A1A2E"/>
                </a:solidFill>
              </a:rPr>
              <a:t>₩ </a:t>
            </a:r>
            <a:r>
              <a:rPr lang="en-US" altLang="ko-KR" sz="1400" b="1">
                <a:solidFill>
                  <a:srgbClr val="1A1A2E"/>
                </a:solidFill>
              </a:rPr>
              <a:t>320</a:t>
            </a:r>
            <a:endParaRPr lang="ko-KR" altLang="en-US" sz="1400" b="1">
              <a:solidFill>
                <a:srgbClr val="1A1A2E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20ED4F-B3E9-3E42-AAC2-645AA1EC9D0F}"/>
              </a:ext>
            </a:extLst>
          </p:cNvPr>
          <p:cNvSpPr txBox="1"/>
          <p:nvPr/>
        </p:nvSpPr>
        <p:spPr>
          <a:xfrm>
            <a:off x="7315200" y="2794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64748B"/>
                </a:solidFill>
              </a:rPr>
              <a:t>주간 학습량</a:t>
            </a: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C77BE402-252E-214F-93D6-C2560C41CB93}"/>
              </a:ext>
            </a:extLst>
          </p:cNvPr>
          <p:cNvSpPr/>
          <p:nvPr/>
        </p:nvSpPr>
        <p:spPr>
          <a:xfrm>
            <a:off x="7416800" y="3810000"/>
            <a:ext cx="304800" cy="381000"/>
          </a:xfrm>
          <a:prstGeom prst="round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668D04D3-C222-9741-BA23-8769DC5E1EAC}"/>
              </a:ext>
            </a:extLst>
          </p:cNvPr>
          <p:cNvSpPr/>
          <p:nvPr/>
        </p:nvSpPr>
        <p:spPr>
          <a:xfrm>
            <a:off x="7950200" y="3556000"/>
            <a:ext cx="304800" cy="635000"/>
          </a:xfrm>
          <a:prstGeom prst="round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0BEEFF21-32A9-D744-9CE9-9F47EF3F824C}"/>
              </a:ext>
            </a:extLst>
          </p:cNvPr>
          <p:cNvSpPr/>
          <p:nvPr/>
        </p:nvSpPr>
        <p:spPr>
          <a:xfrm>
            <a:off x="8483600" y="3708400"/>
            <a:ext cx="304800" cy="482600"/>
          </a:xfrm>
          <a:prstGeom prst="round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48CC2CA3-6846-6F4D-8A87-D95F6E0745FD}"/>
              </a:ext>
            </a:extLst>
          </p:cNvPr>
          <p:cNvSpPr/>
          <p:nvPr/>
        </p:nvSpPr>
        <p:spPr>
          <a:xfrm>
            <a:off x="9017000" y="3365500"/>
            <a:ext cx="304800" cy="825500"/>
          </a:xfrm>
          <a:prstGeom prst="round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A85DEC9B-F7F0-534D-8495-A24BC09B5829}"/>
              </a:ext>
            </a:extLst>
          </p:cNvPr>
          <p:cNvSpPr/>
          <p:nvPr/>
        </p:nvSpPr>
        <p:spPr>
          <a:xfrm>
            <a:off x="9550400" y="3619500"/>
            <a:ext cx="304800" cy="571500"/>
          </a:xfrm>
          <a:prstGeom prst="round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22CAD3C6-EED6-4542-8A7E-64FB47AEC025}"/>
              </a:ext>
            </a:extLst>
          </p:cNvPr>
          <p:cNvSpPr/>
          <p:nvPr/>
        </p:nvSpPr>
        <p:spPr>
          <a:xfrm>
            <a:off x="10083800" y="3238500"/>
            <a:ext cx="304800" cy="9525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75540777-E90E-9945-A8F4-847C4391C57E}"/>
              </a:ext>
            </a:extLst>
          </p:cNvPr>
          <p:cNvSpPr/>
          <p:nvPr/>
        </p:nvSpPr>
        <p:spPr>
          <a:xfrm>
            <a:off x="10617200" y="3429000"/>
            <a:ext cx="304800" cy="762000"/>
          </a:xfrm>
          <a:prstGeom prst="roundRect">
            <a:avLst/>
          </a:prstGeom>
          <a:solidFill>
            <a:srgbClr val="DBEAF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B5B631-88DD-1A44-ACDA-0097FFF2607A}"/>
              </a:ext>
            </a:extLst>
          </p:cNvPr>
          <p:cNvSpPr txBox="1"/>
          <p:nvPr/>
        </p:nvSpPr>
        <p:spPr>
          <a:xfrm>
            <a:off x="7416800" y="42418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94A3B8"/>
                </a:solidFill>
              </a:rPr>
              <a:t>월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890CB9-B45B-C24A-9C5B-A3C53C542B90}"/>
              </a:ext>
            </a:extLst>
          </p:cNvPr>
          <p:cNvSpPr txBox="1"/>
          <p:nvPr/>
        </p:nvSpPr>
        <p:spPr>
          <a:xfrm>
            <a:off x="7950200" y="42418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94A3B8"/>
                </a:solidFill>
              </a:rPr>
              <a:t>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92A00F-0CE2-CD43-8DFC-DEDFC4E44699}"/>
              </a:ext>
            </a:extLst>
          </p:cNvPr>
          <p:cNvSpPr txBox="1"/>
          <p:nvPr/>
        </p:nvSpPr>
        <p:spPr>
          <a:xfrm>
            <a:off x="8483600" y="42418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94A3B8"/>
                </a:solidFill>
              </a:rPr>
              <a:t>수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30D2A4-A4D9-0140-A185-8AC26FDEEC6A}"/>
              </a:ext>
            </a:extLst>
          </p:cNvPr>
          <p:cNvSpPr txBox="1"/>
          <p:nvPr/>
        </p:nvSpPr>
        <p:spPr>
          <a:xfrm>
            <a:off x="9017000" y="42418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94A3B8"/>
                </a:solidFill>
              </a:rPr>
              <a:t>목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319C11-2A50-7442-8B2F-F3B11E2F8EFA}"/>
              </a:ext>
            </a:extLst>
          </p:cNvPr>
          <p:cNvSpPr txBox="1"/>
          <p:nvPr/>
        </p:nvSpPr>
        <p:spPr>
          <a:xfrm>
            <a:off x="9550400" y="42418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94A3B8"/>
                </a:solidFill>
              </a:rPr>
              <a:t>금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7CE0AD-9CE4-2843-B158-92FD80A0291A}"/>
              </a:ext>
            </a:extLst>
          </p:cNvPr>
          <p:cNvSpPr txBox="1"/>
          <p:nvPr/>
        </p:nvSpPr>
        <p:spPr>
          <a:xfrm>
            <a:off x="10083800" y="42418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94A3B8"/>
                </a:solidFill>
              </a:rPr>
              <a:t>토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A2E5E6-3700-BF44-A68E-B97CC35E8CE3}"/>
              </a:ext>
            </a:extLst>
          </p:cNvPr>
          <p:cNvSpPr txBox="1"/>
          <p:nvPr/>
        </p:nvSpPr>
        <p:spPr>
          <a:xfrm>
            <a:off x="10617200" y="4241800"/>
            <a:ext cx="304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94A3B8"/>
                </a:solidFill>
              </a:rPr>
              <a:t>일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20D7F1-DF93-B04F-AF6D-004A72BEECC2}"/>
              </a:ext>
            </a:extLst>
          </p:cNvPr>
          <p:cNvSpPr txBox="1"/>
          <p:nvPr/>
        </p:nvSpPr>
        <p:spPr>
          <a:xfrm>
            <a:off x="7315200" y="4648200"/>
            <a:ext cx="2794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 b="1">
                <a:solidFill>
                  <a:srgbClr val="1A1A2E"/>
                </a:solidFill>
              </a:rPr>
              <a:t>주식 기초 </a:t>
            </a:r>
            <a:r>
              <a:rPr lang="en-US" altLang="ko-KR" sz="1000" b="1">
                <a:solidFill>
                  <a:srgbClr val="1A1A2E"/>
                </a:solidFill>
              </a:rPr>
              <a:t>· </a:t>
            </a:r>
            <a:r>
              <a:rPr lang="ko-KR" altLang="en-US" sz="1000" b="1">
                <a:solidFill>
                  <a:srgbClr val="1A1A2E"/>
                </a:solidFill>
              </a:rPr>
              <a:t>레슨 </a:t>
            </a:r>
            <a:r>
              <a:rPr lang="en-US" altLang="ko-KR" sz="1000" b="1">
                <a:solidFill>
                  <a:srgbClr val="1A1A2E"/>
                </a:solidFill>
              </a:rPr>
              <a:t>3/5</a:t>
            </a:r>
            <a:endParaRPr lang="ko-KR" altLang="en-US" sz="1000" b="1">
              <a:solidFill>
                <a:srgbClr val="1A1A2E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D8F05C-797E-D94A-A4DF-13140F3A98EE}"/>
              </a:ext>
            </a:extLst>
          </p:cNvPr>
          <p:cNvSpPr txBox="1"/>
          <p:nvPr/>
        </p:nvSpPr>
        <p:spPr>
          <a:xfrm>
            <a:off x="10795000" y="4648200"/>
            <a:ext cx="635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4154F1"/>
                </a:solidFill>
              </a:rPr>
              <a:t>60%</a:t>
            </a:r>
            <a:endParaRPr lang="ko-KR" altLang="en-US" sz="1000" b="1">
              <a:solidFill>
                <a:srgbClr val="4154F1"/>
              </a:solidFill>
            </a:endParaRPr>
          </a:p>
        </p:txBody>
      </p:sp>
      <p:sp>
        <p:nvSpPr>
          <p:cNvPr id="56" name="모서리가 둥근 직사각형 55">
            <a:extLst>
              <a:ext uri="{FF2B5EF4-FFF2-40B4-BE49-F238E27FC236}">
                <a16:creationId xmlns:a16="http://schemas.microsoft.com/office/drawing/2014/main" id="{3C405415-153F-2443-A445-E608467D2E94}"/>
              </a:ext>
            </a:extLst>
          </p:cNvPr>
          <p:cNvSpPr/>
          <p:nvPr/>
        </p:nvSpPr>
        <p:spPr>
          <a:xfrm>
            <a:off x="7315200" y="4902200"/>
            <a:ext cx="4165600" cy="127000"/>
          </a:xfrm>
          <a:prstGeom prst="roundRect">
            <a:avLst/>
          </a:prstGeom>
          <a:solidFill>
            <a:srgbClr val="E5E7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" name="모서리가 둥근 직사각형 56">
            <a:extLst>
              <a:ext uri="{FF2B5EF4-FFF2-40B4-BE49-F238E27FC236}">
                <a16:creationId xmlns:a16="http://schemas.microsoft.com/office/drawing/2014/main" id="{61C08A67-615A-E44B-B822-CF295BBF9BE3}"/>
              </a:ext>
            </a:extLst>
          </p:cNvPr>
          <p:cNvSpPr/>
          <p:nvPr/>
        </p:nvSpPr>
        <p:spPr>
          <a:xfrm>
            <a:off x="7315200" y="4902200"/>
            <a:ext cx="2501900" cy="1270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모서리가 둥근 직사각형 57">
            <a:extLst>
              <a:ext uri="{FF2B5EF4-FFF2-40B4-BE49-F238E27FC236}">
                <a16:creationId xmlns:a16="http://schemas.microsoft.com/office/drawing/2014/main" id="{6E9328BF-E139-AE4A-8E2F-9D8C4D02A762}"/>
              </a:ext>
            </a:extLst>
          </p:cNvPr>
          <p:cNvSpPr/>
          <p:nvPr/>
        </p:nvSpPr>
        <p:spPr>
          <a:xfrm>
            <a:off x="6096000" y="2476500"/>
            <a:ext cx="1219200" cy="457200"/>
          </a:xfrm>
          <a:prstGeom prst="round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FFFFFF"/>
                </a:solidFill>
              </a:rPr>
              <a:t>▲ </a:t>
            </a:r>
            <a:r>
              <a:rPr lang="en-US" altLang="ko-KR" sz="1200" b="1">
                <a:solidFill>
                  <a:srgbClr val="FFFFFF"/>
                </a:solidFill>
              </a:rPr>
              <a:t>+24.6%</a:t>
            </a:r>
            <a:endParaRPr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C18EF37-3EE2-9142-813B-9576707CBA99}"/>
              </a:ext>
            </a:extLst>
          </p:cNvPr>
          <p:cNvSpPr/>
          <p:nvPr/>
        </p:nvSpPr>
        <p:spPr>
          <a:xfrm>
            <a:off x="11303000" y="1117600"/>
            <a:ext cx="762000" cy="762000"/>
          </a:xfrm>
          <a:prstGeom prst="ellipse">
            <a:avLst/>
          </a:prstGeom>
          <a:solidFill>
            <a:srgbClr val="FFB400"/>
          </a:solidFill>
          <a:ln w="25400" cap="flat" cmpd="sng" algn="ctr">
            <a:solidFill>
              <a:srgbClr val="F59E0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2400" b="1" dirty="0">
                <a:solidFill>
                  <a:srgbClr val="FFFFFF"/>
                </a:solidFill>
              </a:rPr>
              <a:t>₩</a:t>
            </a:r>
          </a:p>
        </p:txBody>
      </p:sp>
      <p:sp>
        <p:nvSpPr>
          <p:cNvPr id="60" name="모서리가 둥근 직사각형 59">
            <a:extLst>
              <a:ext uri="{FF2B5EF4-FFF2-40B4-BE49-F238E27FC236}">
                <a16:creationId xmlns:a16="http://schemas.microsoft.com/office/drawing/2014/main" id="{616997AF-9451-6B46-9CAB-2236EDC24812}"/>
              </a:ext>
            </a:extLst>
          </p:cNvPr>
          <p:cNvSpPr/>
          <p:nvPr/>
        </p:nvSpPr>
        <p:spPr>
          <a:xfrm>
            <a:off x="10287000" y="5105400"/>
            <a:ext cx="1651000" cy="6858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AE076862-579D-DD48-983B-3F26C5165B24}"/>
              </a:ext>
            </a:extLst>
          </p:cNvPr>
          <p:cNvSpPr/>
          <p:nvPr/>
        </p:nvSpPr>
        <p:spPr>
          <a:xfrm>
            <a:off x="10414000" y="5283200"/>
            <a:ext cx="355600" cy="355600"/>
          </a:xfrm>
          <a:prstGeom prst="ellipse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202761-8ACC-4743-A53C-DAFFBDE789D4}"/>
              </a:ext>
            </a:extLst>
          </p:cNvPr>
          <p:cNvSpPr txBox="1"/>
          <p:nvPr/>
        </p:nvSpPr>
        <p:spPr>
          <a:xfrm>
            <a:off x="10871200" y="5181600"/>
            <a:ext cx="889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94A3B8"/>
                </a:solidFill>
              </a:rPr>
              <a:t>새 레슨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3D1BC7-D6F3-9341-9768-D5E6C60362E6}"/>
              </a:ext>
            </a:extLst>
          </p:cNvPr>
          <p:cNvSpPr txBox="1"/>
          <p:nvPr/>
        </p:nvSpPr>
        <p:spPr>
          <a:xfrm>
            <a:off x="10871200" y="5359400"/>
            <a:ext cx="889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b="1">
                <a:solidFill>
                  <a:srgbClr val="1A1A2E"/>
                </a:solidFill>
              </a:rPr>
              <a:t>ETF </a:t>
            </a:r>
            <a:r>
              <a:rPr lang="ko-KR" altLang="en-US" sz="1100" b="1">
                <a:solidFill>
                  <a:srgbClr val="1A1A2E"/>
                </a:solidFill>
              </a:rPr>
              <a:t>입문</a:t>
            </a:r>
          </a:p>
        </p:txBody>
      </p:sp>
    </p:spTree>
    <p:extLst>
      <p:ext uri="{BB962C8B-B14F-4D97-AF65-F5344CB8AC3E}">
        <p14:creationId xmlns:p14="http://schemas.microsoft.com/office/powerpoint/2010/main" val="1713429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66C0B941-75EE-C644-A2ED-AFA5FD7B0280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2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EB109B0-8722-7D42-8A50-B45F0DE4E06D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1A1A2E"/>
                </a:solidFill>
              </a:rPr>
              <a:t>홈페이지 제작 주제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5BCE2EA-DA45-014C-814B-52D81CA0AAE0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HeroCard">
            <a:extLst>
              <a:ext uri="{FF2B5EF4-FFF2-40B4-BE49-F238E27FC236}">
                <a16:creationId xmlns:a16="http://schemas.microsoft.com/office/drawing/2014/main" id="{39CAA064-5D84-E148-B4E3-8F88A48B67AC}"/>
              </a:ext>
            </a:extLst>
          </p:cNvPr>
          <p:cNvSpPr/>
          <p:nvPr/>
        </p:nvSpPr>
        <p:spPr>
          <a:xfrm>
            <a:off x="762000" y="2032000"/>
            <a:ext cx="10668000" cy="13970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HeroText">
            <a:extLst>
              <a:ext uri="{FF2B5EF4-FFF2-40B4-BE49-F238E27FC236}">
                <a16:creationId xmlns:a16="http://schemas.microsoft.com/office/drawing/2014/main" id="{ABB1D35B-85F2-2A4D-BD79-90DFC9547CD1}"/>
              </a:ext>
            </a:extLst>
          </p:cNvPr>
          <p:cNvSpPr txBox="1"/>
          <p:nvPr/>
        </p:nvSpPr>
        <p:spPr>
          <a:xfrm>
            <a:off x="1143000" y="2222500"/>
            <a:ext cx="990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100" b="1" dirty="0">
                <a:solidFill>
                  <a:srgbClr val="4154F1"/>
                </a:solidFill>
              </a:rPr>
              <a:t>FinEdu</a:t>
            </a:r>
            <a:r>
              <a:rPr lang="ko-KR" sz="1100" dirty="0">
                <a:solidFill>
                  <a:srgbClr val="64748B"/>
                </a:solidFill>
              </a:rPr>
              <a:t>  ·  한국어 금융·경제 학습 플랫폼</a:t>
            </a:r>
          </a:p>
          <a:p>
            <a:pPr>
              <a:spcBef>
                <a:spcPts val="400"/>
              </a:spcBef>
              <a:buNone/>
            </a:pPr>
            <a:r>
              <a:rPr lang="ko-KR" sz="2400" b="1" dirty="0">
                <a:solidFill>
                  <a:srgbClr val="1A1A2E"/>
                </a:solidFill>
              </a:rPr>
              <a:t>“하루 5분, 친구처럼 알려주는 주식·자산 학습.”</a:t>
            </a:r>
          </a:p>
        </p:txBody>
      </p:sp>
      <p:sp>
        <p:nvSpPr>
          <p:cNvPr id="7" name="PointCard0">
            <a:extLst>
              <a:ext uri="{FF2B5EF4-FFF2-40B4-BE49-F238E27FC236}">
                <a16:creationId xmlns:a16="http://schemas.microsoft.com/office/drawing/2014/main" id="{3F7AF481-DA5A-0946-81A8-DADCDB036093}"/>
              </a:ext>
            </a:extLst>
          </p:cNvPr>
          <p:cNvSpPr/>
          <p:nvPr/>
        </p:nvSpPr>
        <p:spPr>
          <a:xfrm>
            <a:off x="762000" y="3746500"/>
            <a:ext cx="5207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4BB58C-C8DA-9A4B-A0EA-D4C6E0053C95}"/>
              </a:ext>
            </a:extLst>
          </p:cNvPr>
          <p:cNvSpPr/>
          <p:nvPr/>
        </p:nvSpPr>
        <p:spPr>
          <a:xfrm>
            <a:off x="762000" y="3746500"/>
            <a:ext cx="50800" cy="12065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PointText0">
            <a:extLst>
              <a:ext uri="{FF2B5EF4-FFF2-40B4-BE49-F238E27FC236}">
                <a16:creationId xmlns:a16="http://schemas.microsoft.com/office/drawing/2014/main" id="{3580D9C2-1B4D-D54D-8C17-F3213BC7BE34}"/>
              </a:ext>
            </a:extLst>
          </p:cNvPr>
          <p:cNvSpPr txBox="1"/>
          <p:nvPr/>
        </p:nvSpPr>
        <p:spPr>
          <a:xfrm>
            <a:off x="1016000" y="3924300"/>
            <a:ext cx="482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한 줄 컨셉</a:t>
            </a:r>
          </a:p>
          <a:p>
            <a:pPr>
              <a:spcBef>
                <a:spcPts val="400"/>
              </a:spcBef>
              <a:buNone/>
            </a:pPr>
            <a:r>
              <a:rPr lang="ko-KR" sz="1100" dirty="0">
                <a:solidFill>
                  <a:srgbClr val="4B5563"/>
                </a:solidFill>
              </a:rPr>
              <a:t>“하루 5분, 친구처럼 알려주는 주식·자산 학습.”</a:t>
            </a:r>
          </a:p>
        </p:txBody>
      </p:sp>
      <p:sp>
        <p:nvSpPr>
          <p:cNvPr id="10" name="PointCard1">
            <a:extLst>
              <a:ext uri="{FF2B5EF4-FFF2-40B4-BE49-F238E27FC236}">
                <a16:creationId xmlns:a16="http://schemas.microsoft.com/office/drawing/2014/main" id="{771B2554-1B0D-EB49-971C-6912E6DEBE96}"/>
              </a:ext>
            </a:extLst>
          </p:cNvPr>
          <p:cNvSpPr/>
          <p:nvPr/>
        </p:nvSpPr>
        <p:spPr>
          <a:xfrm>
            <a:off x="6223000" y="3746500"/>
            <a:ext cx="5207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BC0D8A-6380-7344-9B38-B9AF5763A266}"/>
              </a:ext>
            </a:extLst>
          </p:cNvPr>
          <p:cNvSpPr/>
          <p:nvPr/>
        </p:nvSpPr>
        <p:spPr>
          <a:xfrm>
            <a:off x="6223000" y="3746500"/>
            <a:ext cx="50800" cy="1206500"/>
          </a:xfrm>
          <a:prstGeom prst="rect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PointText1">
            <a:extLst>
              <a:ext uri="{FF2B5EF4-FFF2-40B4-BE49-F238E27FC236}">
                <a16:creationId xmlns:a16="http://schemas.microsoft.com/office/drawing/2014/main" id="{9367DEC8-C4FE-604D-A175-6B71234DF84D}"/>
              </a:ext>
            </a:extLst>
          </p:cNvPr>
          <p:cNvSpPr txBox="1"/>
          <p:nvPr/>
        </p:nvSpPr>
        <p:spPr>
          <a:xfrm>
            <a:off x="6477000" y="3924300"/>
            <a:ext cx="482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핵심 메커닉</a:t>
            </a:r>
          </a:p>
          <a:p>
            <a:pPr>
              <a:spcBef>
                <a:spcPts val="400"/>
              </a:spcBef>
              <a:buNone/>
            </a:pPr>
            <a:r>
              <a:rPr lang="ko-KR" sz="1100" dirty="0">
                <a:solidFill>
                  <a:srgbClr val="4B5563"/>
                </a:solidFill>
              </a:rPr>
              <a:t>짧은 레슨 + XP · 코인 · 스트릭 · 6단계 리그</a:t>
            </a:r>
          </a:p>
        </p:txBody>
      </p:sp>
      <p:sp>
        <p:nvSpPr>
          <p:cNvPr id="13" name="PointCard2">
            <a:extLst>
              <a:ext uri="{FF2B5EF4-FFF2-40B4-BE49-F238E27FC236}">
                <a16:creationId xmlns:a16="http://schemas.microsoft.com/office/drawing/2014/main" id="{D5A1A762-A754-F941-9CE0-93E544814EDD}"/>
              </a:ext>
            </a:extLst>
          </p:cNvPr>
          <p:cNvSpPr/>
          <p:nvPr/>
        </p:nvSpPr>
        <p:spPr>
          <a:xfrm>
            <a:off x="762000" y="5143500"/>
            <a:ext cx="5207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A6EF6B-1E01-8747-B0CD-FBDAB01E1CC6}"/>
              </a:ext>
            </a:extLst>
          </p:cNvPr>
          <p:cNvSpPr/>
          <p:nvPr/>
        </p:nvSpPr>
        <p:spPr>
          <a:xfrm>
            <a:off x="762000" y="5143500"/>
            <a:ext cx="50800" cy="1206500"/>
          </a:xfrm>
          <a:prstGeom prst="rect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PointText2">
            <a:extLst>
              <a:ext uri="{FF2B5EF4-FFF2-40B4-BE49-F238E27FC236}">
                <a16:creationId xmlns:a16="http://schemas.microsoft.com/office/drawing/2014/main" id="{DFA94243-293C-9641-8DDF-4C147A6AE8D8}"/>
              </a:ext>
            </a:extLst>
          </p:cNvPr>
          <p:cNvSpPr txBox="1"/>
          <p:nvPr/>
        </p:nvSpPr>
        <p:spPr>
          <a:xfrm>
            <a:off x="1016000" y="5321300"/>
            <a:ext cx="482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캐릭터 &amp; 커뮤니티</a:t>
            </a:r>
          </a:p>
          <a:p>
            <a:pPr>
              <a:spcBef>
                <a:spcPts val="400"/>
              </a:spcBef>
              <a:buNone/>
            </a:pPr>
            <a:r>
              <a:rPr lang="ko-KR" sz="1100" dirty="0">
                <a:solidFill>
                  <a:srgbClr val="4B5563"/>
                </a:solidFill>
              </a:rPr>
              <a:t>풀세트 painterly 캐릭터 · 옷장 · 스킨 마켓 · 친구 시스템</a:t>
            </a:r>
          </a:p>
        </p:txBody>
      </p:sp>
      <p:sp>
        <p:nvSpPr>
          <p:cNvPr id="16" name="PointCard3">
            <a:extLst>
              <a:ext uri="{FF2B5EF4-FFF2-40B4-BE49-F238E27FC236}">
                <a16:creationId xmlns:a16="http://schemas.microsoft.com/office/drawing/2014/main" id="{8AE36706-9B69-D54E-A422-6B5CF3748C0D}"/>
              </a:ext>
            </a:extLst>
          </p:cNvPr>
          <p:cNvSpPr/>
          <p:nvPr/>
        </p:nvSpPr>
        <p:spPr>
          <a:xfrm>
            <a:off x="6223000" y="5143500"/>
            <a:ext cx="5207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FB1578-7FD1-2941-88DE-719E750C7A2C}"/>
              </a:ext>
            </a:extLst>
          </p:cNvPr>
          <p:cNvSpPr/>
          <p:nvPr/>
        </p:nvSpPr>
        <p:spPr>
          <a:xfrm>
            <a:off x="6223000" y="5143500"/>
            <a:ext cx="50800" cy="12065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PointText3">
            <a:extLst>
              <a:ext uri="{FF2B5EF4-FFF2-40B4-BE49-F238E27FC236}">
                <a16:creationId xmlns:a16="http://schemas.microsoft.com/office/drawing/2014/main" id="{70FBF19D-B2DE-AA42-8365-1F0C9996950A}"/>
              </a:ext>
            </a:extLst>
          </p:cNvPr>
          <p:cNvSpPr txBox="1"/>
          <p:nvPr/>
        </p:nvSpPr>
        <p:spPr>
          <a:xfrm>
            <a:off x="6477000" y="5321300"/>
            <a:ext cx="482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다루는 영역</a:t>
            </a:r>
          </a:p>
          <a:p>
            <a:pPr>
              <a:spcBef>
                <a:spcPts val="400"/>
              </a:spcBef>
              <a:buNone/>
            </a:pPr>
            <a:r>
              <a:rPr lang="ko-KR" sz="1100" dirty="0">
                <a:solidFill>
                  <a:srgbClr val="4B5563"/>
                </a:solidFill>
              </a:rPr>
              <a:t>주식 기본 → 자산 배분 → 절세·연금 → 거시 흐름</a:t>
            </a:r>
          </a:p>
        </p:txBody>
      </p:sp>
    </p:spTree>
    <p:extLst>
      <p:ext uri="{BB962C8B-B14F-4D97-AF65-F5344CB8AC3E}">
        <p14:creationId xmlns:p14="http://schemas.microsoft.com/office/powerpoint/2010/main" val="225732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>
            <a:extLst>
              <a:ext uri="{FF2B5EF4-FFF2-40B4-BE49-F238E27FC236}">
                <a16:creationId xmlns:a16="http://schemas.microsoft.com/office/drawing/2014/main" id="{E8CCA5A0-1F51-C043-9B93-49353D7E5424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3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698CCD-9A4B-C544-B01D-AE27B87CDE4A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1A1A2E"/>
                </a:solidFill>
              </a:rPr>
              <a:t>주제 선정 이유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5C845D-E7BD-F143-854D-32C2AB1D553C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ReasonCard0">
            <a:extLst>
              <a:ext uri="{FF2B5EF4-FFF2-40B4-BE49-F238E27FC236}">
                <a16:creationId xmlns:a16="http://schemas.microsoft.com/office/drawing/2014/main" id="{5086F403-DBBA-3247-9D0F-468B079E6ABC}"/>
              </a:ext>
            </a:extLst>
          </p:cNvPr>
          <p:cNvSpPr/>
          <p:nvPr/>
        </p:nvSpPr>
        <p:spPr>
          <a:xfrm>
            <a:off x="762000" y="2032000"/>
            <a:ext cx="10668000" cy="127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4246F13-7EAC-BC4D-96C0-53BE72812C64}"/>
              </a:ext>
            </a:extLst>
          </p:cNvPr>
          <p:cNvSpPr/>
          <p:nvPr/>
        </p:nvSpPr>
        <p:spPr>
          <a:xfrm>
            <a:off x="1079500" y="2349500"/>
            <a:ext cx="635000" cy="635000"/>
          </a:xfrm>
          <a:prstGeom prst="ellipse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1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7" name="ReasonText0">
            <a:extLst>
              <a:ext uri="{FF2B5EF4-FFF2-40B4-BE49-F238E27FC236}">
                <a16:creationId xmlns:a16="http://schemas.microsoft.com/office/drawing/2014/main" id="{1CF7F048-1FEF-314E-B4BE-BF220DD960D2}"/>
              </a:ext>
            </a:extLst>
          </p:cNvPr>
          <p:cNvSpPr txBox="1"/>
          <p:nvPr/>
        </p:nvSpPr>
        <p:spPr>
          <a:xfrm>
            <a:off x="2032000" y="2209800"/>
            <a:ext cx="9144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500" b="1" dirty="0">
                <a:solidFill>
                  <a:srgbClr val="1A1A2E"/>
                </a:solidFill>
              </a:rPr>
              <a:t>사회적 필요</a:t>
            </a:r>
          </a:p>
          <a:p>
            <a:pPr marL="171450" indent="-171450">
              <a:spcBef>
                <a:spcPts val="200"/>
              </a:spcBef>
              <a:buClr>
                <a:srgbClr val="4154F1"/>
              </a:buClr>
              <a:buFont typeface="Arial"/>
              <a:buChar char="•"/>
            </a:pPr>
            <a:r>
              <a:rPr lang="ko-KR" sz="1200" dirty="0">
                <a:solidFill>
                  <a:srgbClr val="4B5563"/>
                </a:solidFill>
              </a:rPr>
              <a:t>청년 부채·재테크 관심 증가 vs. 학교 정규 교육에서 금융 교육 부재</a:t>
            </a:r>
          </a:p>
          <a:p>
            <a:pPr marL="171450" indent="-171450">
              <a:spcBef>
                <a:spcPts val="200"/>
              </a:spcBef>
              <a:buClr>
                <a:srgbClr val="4154F1"/>
              </a:buClr>
              <a:buFont typeface="Arial"/>
              <a:buChar char="•"/>
            </a:pPr>
            <a:r>
              <a:rPr lang="ko-KR" sz="1200" dirty="0">
                <a:solidFill>
                  <a:srgbClr val="4B5563"/>
                </a:solidFill>
              </a:rPr>
              <a:t>통계청·OECD 자료에서 청년 금융 리터러시 점수가 평균 이하</a:t>
            </a:r>
          </a:p>
        </p:txBody>
      </p:sp>
      <p:sp>
        <p:nvSpPr>
          <p:cNvPr id="8" name="ReasonCard1">
            <a:extLst>
              <a:ext uri="{FF2B5EF4-FFF2-40B4-BE49-F238E27FC236}">
                <a16:creationId xmlns:a16="http://schemas.microsoft.com/office/drawing/2014/main" id="{615A9530-4B64-ED41-A247-CAC8423C157F}"/>
              </a:ext>
            </a:extLst>
          </p:cNvPr>
          <p:cNvSpPr/>
          <p:nvPr/>
        </p:nvSpPr>
        <p:spPr>
          <a:xfrm>
            <a:off x="762000" y="3492500"/>
            <a:ext cx="10668000" cy="127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C1319EE-7B00-BC4F-A39C-BBEC13615E64}"/>
              </a:ext>
            </a:extLst>
          </p:cNvPr>
          <p:cNvSpPr/>
          <p:nvPr/>
        </p:nvSpPr>
        <p:spPr>
          <a:xfrm>
            <a:off x="1079500" y="3810000"/>
            <a:ext cx="635000" cy="635000"/>
          </a:xfrm>
          <a:prstGeom prst="ellipse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2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0" name="ReasonText1">
            <a:extLst>
              <a:ext uri="{FF2B5EF4-FFF2-40B4-BE49-F238E27FC236}">
                <a16:creationId xmlns:a16="http://schemas.microsoft.com/office/drawing/2014/main" id="{9520BDEE-CB03-9048-B1E6-0193AF20A4AD}"/>
              </a:ext>
            </a:extLst>
          </p:cNvPr>
          <p:cNvSpPr txBox="1"/>
          <p:nvPr/>
        </p:nvSpPr>
        <p:spPr>
          <a:xfrm>
            <a:off x="2032000" y="3670300"/>
            <a:ext cx="9144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500" b="1" dirty="0">
                <a:solidFill>
                  <a:srgbClr val="1A1A2E"/>
                </a:solidFill>
              </a:rPr>
              <a:t>개인적 동기</a:t>
            </a:r>
          </a:p>
          <a:p>
            <a:pPr marL="171450" indent="-171450">
              <a:spcBef>
                <a:spcPts val="200"/>
              </a:spcBef>
              <a:buClr>
                <a:srgbClr val="4154F1"/>
              </a:buClr>
              <a:buFont typeface="Arial"/>
              <a:buChar char="•"/>
            </a:pPr>
            <a:r>
              <a:rPr lang="ko-KR" sz="1200" dirty="0">
                <a:solidFill>
                  <a:srgbClr val="4B5563"/>
                </a:solidFill>
              </a:rPr>
              <a:t>본인이 처음 투자를 시작했을 때 “용어부터 막혔던” 경험</a:t>
            </a:r>
          </a:p>
          <a:p>
            <a:pPr marL="171450" indent="-171450">
              <a:spcBef>
                <a:spcPts val="200"/>
              </a:spcBef>
              <a:buClr>
                <a:srgbClr val="4154F1"/>
              </a:buClr>
              <a:buFont typeface="Arial"/>
              <a:buChar char="•"/>
            </a:pPr>
            <a:r>
              <a:rPr lang="ko-KR" sz="1200" dirty="0">
                <a:solidFill>
                  <a:srgbClr val="4B5563"/>
                </a:solidFill>
              </a:rPr>
              <a:t>책·유튜브는 진입 장벽이 높거나 광고성이 강함</a:t>
            </a:r>
          </a:p>
        </p:txBody>
      </p:sp>
      <p:sp>
        <p:nvSpPr>
          <p:cNvPr id="11" name="ReasonCard2">
            <a:extLst>
              <a:ext uri="{FF2B5EF4-FFF2-40B4-BE49-F238E27FC236}">
                <a16:creationId xmlns:a16="http://schemas.microsoft.com/office/drawing/2014/main" id="{2EDE6F4E-5D74-3647-88A8-5E67BC4FE81F}"/>
              </a:ext>
            </a:extLst>
          </p:cNvPr>
          <p:cNvSpPr/>
          <p:nvPr/>
        </p:nvSpPr>
        <p:spPr>
          <a:xfrm>
            <a:off x="762000" y="4953000"/>
            <a:ext cx="10668000" cy="127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450CFEC-660F-A848-98E9-D5F809426B0B}"/>
              </a:ext>
            </a:extLst>
          </p:cNvPr>
          <p:cNvSpPr/>
          <p:nvPr/>
        </p:nvSpPr>
        <p:spPr>
          <a:xfrm>
            <a:off x="1079500" y="5270500"/>
            <a:ext cx="635000" cy="635000"/>
          </a:xfrm>
          <a:prstGeom prst="ellipse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200" b="1">
                <a:solidFill>
                  <a:srgbClr val="FFFFFF"/>
                </a:solidFill>
              </a:rPr>
              <a:t>3</a:t>
            </a:r>
            <a:endParaRPr lang="ko-KR" altLang="en-US" sz="2200" b="1">
              <a:solidFill>
                <a:srgbClr val="FFFFFF"/>
              </a:solidFill>
            </a:endParaRPr>
          </a:p>
        </p:txBody>
      </p:sp>
      <p:sp>
        <p:nvSpPr>
          <p:cNvPr id="13" name="ReasonText2">
            <a:extLst>
              <a:ext uri="{FF2B5EF4-FFF2-40B4-BE49-F238E27FC236}">
                <a16:creationId xmlns:a16="http://schemas.microsoft.com/office/drawing/2014/main" id="{EBA42A41-0CA8-6F49-897E-EC39A97B1E07}"/>
              </a:ext>
            </a:extLst>
          </p:cNvPr>
          <p:cNvSpPr txBox="1"/>
          <p:nvPr/>
        </p:nvSpPr>
        <p:spPr>
          <a:xfrm>
            <a:off x="2032000" y="5130800"/>
            <a:ext cx="9144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500" b="1" dirty="0">
                <a:solidFill>
                  <a:srgbClr val="1A1A2E"/>
                </a:solidFill>
              </a:rPr>
              <a:t>기술적 흥미</a:t>
            </a:r>
          </a:p>
          <a:p>
            <a:pPr marL="171450" indent="-171450">
              <a:spcBef>
                <a:spcPts val="200"/>
              </a:spcBef>
              <a:buClr>
                <a:srgbClr val="4154F1"/>
              </a:buClr>
              <a:buFont typeface="Arial"/>
              <a:buChar char="•"/>
            </a:pPr>
            <a:r>
              <a:rPr lang="ko-KR" sz="1200" dirty="0">
                <a:solidFill>
                  <a:srgbClr val="4B5563"/>
                </a:solidFill>
              </a:rPr>
              <a:t>게이미피케이션 UI/UX를 직접 구현해 보고 싶은 호기심</a:t>
            </a:r>
          </a:p>
          <a:p>
            <a:pPr marL="171450" indent="-171450">
              <a:spcBef>
                <a:spcPts val="200"/>
              </a:spcBef>
              <a:buClr>
                <a:srgbClr val="4154F1"/>
              </a:buClr>
              <a:buFont typeface="Arial"/>
              <a:buChar char="•"/>
            </a:pPr>
            <a:r>
              <a:rPr lang="ko-KR" sz="1200" dirty="0">
                <a:solidFill>
                  <a:srgbClr val="4B5563"/>
                </a:solidFill>
              </a:rPr>
              <a:t>순수 HTML·CSS·JS 만으로도 “앱처럼 보이는” 정적 사이트가 가능한지 검증</a:t>
            </a:r>
          </a:p>
        </p:txBody>
      </p:sp>
    </p:spTree>
    <p:extLst>
      <p:ext uri="{BB962C8B-B14F-4D97-AF65-F5344CB8AC3E}">
        <p14:creationId xmlns:p14="http://schemas.microsoft.com/office/powerpoint/2010/main" val="417549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9B6A93-F6D0-EA4A-80F0-C0567727F58C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4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115B5-0E96-2445-BFB7-012204D7568E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1A1A2E"/>
                </a:solidFill>
              </a:rPr>
              <a:t>제작 목적 및 대상 사용자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4C68B9-EF24-5146-9CAF-A5D80C7A6E19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68450C7-C1E3-A14A-A00B-915CAAD1DF6A}"/>
              </a:ext>
            </a:extLst>
          </p:cNvPr>
          <p:cNvSpPr/>
          <p:nvPr/>
        </p:nvSpPr>
        <p:spPr>
          <a:xfrm>
            <a:off x="762000" y="2032000"/>
            <a:ext cx="4826000" cy="40640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PurposeText">
            <a:extLst>
              <a:ext uri="{FF2B5EF4-FFF2-40B4-BE49-F238E27FC236}">
                <a16:creationId xmlns:a16="http://schemas.microsoft.com/office/drawing/2014/main" id="{A122CC74-9DEF-3841-8F6A-949BD850A2A6}"/>
              </a:ext>
            </a:extLst>
          </p:cNvPr>
          <p:cNvSpPr txBox="1"/>
          <p:nvPr/>
        </p:nvSpPr>
        <p:spPr>
          <a:xfrm>
            <a:off x="1066800" y="2336800"/>
            <a:ext cx="4216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100" b="1" dirty="0">
                <a:solidFill>
                  <a:srgbClr val="C7CCFC"/>
                </a:solidFill>
              </a:rPr>
              <a:t>PURPOSE</a:t>
            </a:r>
          </a:p>
          <a:p>
            <a:pPr>
              <a:spcBef>
                <a:spcPts val="400"/>
              </a:spcBef>
              <a:buNone/>
            </a:pPr>
            <a:r>
              <a:rPr lang="ko-KR" sz="2000" b="1" dirty="0">
                <a:solidFill>
                  <a:srgbClr val="FFFFFF"/>
                </a:solidFill>
              </a:rPr>
              <a:t>제작 목적</a:t>
            </a:r>
          </a:p>
          <a:p>
            <a:pPr>
              <a:spcBef>
                <a:spcPts val="800"/>
              </a:spcBef>
              <a:buNone/>
            </a:pPr>
            <a:r>
              <a:rPr lang="ko-KR" sz="1400" dirty="0">
                <a:solidFill>
                  <a:srgbClr val="FFFFFF"/>
                </a:solidFill>
              </a:rPr>
              <a:t>금융·경제 입문 학습자가 </a:t>
            </a:r>
            <a:r>
              <a:rPr lang="ko-KR" sz="1400" b="1" dirty="0">
                <a:solidFill>
                  <a:srgbClr val="FFD56B"/>
                </a:solidFill>
              </a:rPr>
              <a:t>5분 안에 한 개념을 익히고</a:t>
            </a:r>
            <a:r>
              <a:rPr lang="ko-KR" sz="1400" dirty="0">
                <a:solidFill>
                  <a:srgbClr val="FFFFFF"/>
                </a:solidFill>
              </a:rPr>
              <a:t>, </a:t>
            </a:r>
            <a:r>
              <a:rPr lang="ko-KR" sz="1400" b="1" dirty="0">
                <a:solidFill>
                  <a:srgbClr val="FFD56B"/>
                </a:solidFill>
              </a:rPr>
              <a:t>꾸준히</a:t>
            </a:r>
            <a:r>
              <a:rPr lang="ko-KR" sz="1400" dirty="0">
                <a:solidFill>
                  <a:srgbClr val="FFFFFF"/>
                </a:solidFill>
              </a:rPr>
              <a:t> 들어오게 만든다.</a:t>
            </a:r>
          </a:p>
          <a:p>
            <a:pPr>
              <a:spcBef>
                <a:spcPts val="600"/>
              </a:spcBef>
              <a:buNone/>
            </a:pPr>
            <a:r>
              <a:rPr lang="ko-KR" sz="1200" dirty="0">
                <a:solidFill>
                  <a:srgbClr val="DDE0FB"/>
                </a:solidFill>
              </a:rPr>
              <a:t>학습 효과가 통계로 보이도록 </a:t>
            </a:r>
            <a:r>
              <a:rPr lang="ko-KR" sz="1200" b="1" dirty="0">
                <a:solidFill>
                  <a:srgbClr val="FFFFFF"/>
                </a:solidFill>
              </a:rPr>
              <a:t>XP · 코인 · 스트릭 · 리그 순위</a:t>
            </a:r>
            <a:r>
              <a:rPr lang="ko-KR" sz="1200" dirty="0">
                <a:solidFill>
                  <a:srgbClr val="DDE0FB"/>
                </a:solidFill>
              </a:rPr>
              <a:t>로 즉시 피드백을 제공할 예정.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6489341-8FA4-3041-ACC6-D975EEBE6451}"/>
              </a:ext>
            </a:extLst>
          </p:cNvPr>
          <p:cNvSpPr/>
          <p:nvPr/>
        </p:nvSpPr>
        <p:spPr>
          <a:xfrm>
            <a:off x="5842000" y="2032000"/>
            <a:ext cx="5588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CEAD56-3DFA-B348-B1F1-EB61EE787956}"/>
              </a:ext>
            </a:extLst>
          </p:cNvPr>
          <p:cNvSpPr/>
          <p:nvPr/>
        </p:nvSpPr>
        <p:spPr>
          <a:xfrm>
            <a:off x="5842000" y="2032000"/>
            <a:ext cx="50800" cy="12065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PersonaText0">
            <a:extLst>
              <a:ext uri="{FF2B5EF4-FFF2-40B4-BE49-F238E27FC236}">
                <a16:creationId xmlns:a16="http://schemas.microsoft.com/office/drawing/2014/main" id="{55FD2427-7278-9448-A51E-37A27B5B4D7B}"/>
              </a:ext>
            </a:extLst>
          </p:cNvPr>
          <p:cNvSpPr txBox="1"/>
          <p:nvPr/>
        </p:nvSpPr>
        <p:spPr>
          <a:xfrm>
            <a:off x="6096000" y="2184400"/>
            <a:ext cx="5207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첫 월급 신입 · 25</a:t>
            </a:r>
          </a:p>
          <a:p>
            <a:pPr>
              <a:spcBef>
                <a:spcPts val="200"/>
              </a:spcBef>
              <a:buNone/>
            </a:pPr>
            <a:r>
              <a:rPr lang="ko-KR" sz="1100" dirty="0">
                <a:solidFill>
                  <a:srgbClr val="64748B"/>
                </a:solidFill>
              </a:rPr>
              <a:t>상황 · 입사 후 첫 적금/주식 시작</a:t>
            </a:r>
          </a:p>
          <a:p>
            <a:pPr>
              <a:buNone/>
            </a:pPr>
            <a:r>
              <a:rPr lang="ko-KR" sz="1100" b="1" dirty="0">
                <a:solidFill>
                  <a:srgbClr val="4154F1"/>
                </a:solidFill>
              </a:rPr>
              <a:t>니즈 · 용어부터 차근차근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A4BFA46-AC5E-8E4C-83B7-8ED9CAA501A7}"/>
              </a:ext>
            </a:extLst>
          </p:cNvPr>
          <p:cNvSpPr/>
          <p:nvPr/>
        </p:nvSpPr>
        <p:spPr>
          <a:xfrm>
            <a:off x="5842000" y="3429000"/>
            <a:ext cx="5588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DD4A8B-F73B-F544-90C5-3A8BC3C9EF5C}"/>
              </a:ext>
            </a:extLst>
          </p:cNvPr>
          <p:cNvSpPr/>
          <p:nvPr/>
        </p:nvSpPr>
        <p:spPr>
          <a:xfrm>
            <a:off x="5842000" y="3429000"/>
            <a:ext cx="50800" cy="1206500"/>
          </a:xfrm>
          <a:prstGeom prst="rect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PersonaText1">
            <a:extLst>
              <a:ext uri="{FF2B5EF4-FFF2-40B4-BE49-F238E27FC236}">
                <a16:creationId xmlns:a16="http://schemas.microsoft.com/office/drawing/2014/main" id="{313A6D2E-9F98-034B-80B7-4444BD7C7012}"/>
              </a:ext>
            </a:extLst>
          </p:cNvPr>
          <p:cNvSpPr txBox="1"/>
          <p:nvPr/>
        </p:nvSpPr>
        <p:spPr>
          <a:xfrm>
            <a:off x="6096000" y="3581400"/>
            <a:ext cx="5207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취준생 대학생 · 22</a:t>
            </a:r>
          </a:p>
          <a:p>
            <a:pPr>
              <a:spcBef>
                <a:spcPts val="200"/>
              </a:spcBef>
              <a:buNone/>
            </a:pPr>
            <a:r>
              <a:rPr lang="ko-KR" sz="1100" dirty="0">
                <a:solidFill>
                  <a:srgbClr val="64748B"/>
                </a:solidFill>
              </a:rPr>
              <a:t>상황 · 경제 신문이 어렵다</a:t>
            </a:r>
          </a:p>
          <a:p>
            <a:pPr>
              <a:buNone/>
            </a:pPr>
            <a:r>
              <a:rPr lang="ko-KR" sz="1100" b="1" dirty="0">
                <a:solidFill>
                  <a:srgbClr val="4154F1"/>
                </a:solidFill>
              </a:rPr>
              <a:t>니즈 · 매일 짧게 핵심만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888DE2D-0FE0-604C-A6B4-DBBF34554BC5}"/>
              </a:ext>
            </a:extLst>
          </p:cNvPr>
          <p:cNvSpPr/>
          <p:nvPr/>
        </p:nvSpPr>
        <p:spPr>
          <a:xfrm>
            <a:off x="5842000" y="4826000"/>
            <a:ext cx="5588000" cy="1206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ADDC89-2C38-0E42-89E8-898B6850D6A8}"/>
              </a:ext>
            </a:extLst>
          </p:cNvPr>
          <p:cNvSpPr/>
          <p:nvPr/>
        </p:nvSpPr>
        <p:spPr>
          <a:xfrm>
            <a:off x="5842000" y="4826000"/>
            <a:ext cx="50800" cy="1206500"/>
          </a:xfrm>
          <a:prstGeom prst="rect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PersonaText2">
            <a:extLst>
              <a:ext uri="{FF2B5EF4-FFF2-40B4-BE49-F238E27FC236}">
                <a16:creationId xmlns:a16="http://schemas.microsoft.com/office/drawing/2014/main" id="{15BE8618-3D4E-F342-ABA7-646353DAD428}"/>
              </a:ext>
            </a:extLst>
          </p:cNvPr>
          <p:cNvSpPr txBox="1"/>
          <p:nvPr/>
        </p:nvSpPr>
        <p:spPr>
          <a:xfrm>
            <a:off x="6096000" y="4978400"/>
            <a:ext cx="5207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학부모 · 38</a:t>
            </a:r>
          </a:p>
          <a:p>
            <a:pPr>
              <a:spcBef>
                <a:spcPts val="200"/>
              </a:spcBef>
              <a:buNone/>
            </a:pPr>
            <a:r>
              <a:rPr lang="ko-KR" sz="1100" dirty="0">
                <a:solidFill>
                  <a:srgbClr val="64748B"/>
                </a:solidFill>
              </a:rPr>
              <a:t>상황 · 자녀 경제 교육 고민</a:t>
            </a:r>
          </a:p>
          <a:p>
            <a:pPr>
              <a:buNone/>
            </a:pPr>
            <a:r>
              <a:rPr lang="ko-KR" sz="1100" b="1" dirty="0">
                <a:solidFill>
                  <a:srgbClr val="4154F1"/>
                </a:solidFill>
              </a:rPr>
              <a:t>니즈 · 함께 풀 수 있는 콘텐츠</a:t>
            </a:r>
          </a:p>
        </p:txBody>
      </p:sp>
    </p:spTree>
    <p:extLst>
      <p:ext uri="{BB962C8B-B14F-4D97-AF65-F5344CB8AC3E}">
        <p14:creationId xmlns:p14="http://schemas.microsoft.com/office/powerpoint/2010/main" val="546282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E3C1EF-6DA6-E34A-8B9E-3A730AE8264F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5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15C45-3BA5-AC49-BB4E-C8D1325DAD35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1A1A2E"/>
                </a:solidFill>
              </a:rPr>
              <a:t>제공 콘텐츠와 전체 방향성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04C3E2A-C963-AF44-B8FA-8E6DBE503AE3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11E11EE-1740-7A4C-8610-27C0140F34CA}"/>
              </a:ext>
            </a:extLst>
          </p:cNvPr>
          <p:cNvSpPr/>
          <p:nvPr/>
        </p:nvSpPr>
        <p:spPr>
          <a:xfrm>
            <a:off x="762000" y="2032000"/>
            <a:ext cx="5207000" cy="41910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ContentText">
            <a:extLst>
              <a:ext uri="{FF2B5EF4-FFF2-40B4-BE49-F238E27FC236}">
                <a16:creationId xmlns:a16="http://schemas.microsoft.com/office/drawing/2014/main" id="{122B33F6-B55B-8B4C-90AA-CE7B874681AF}"/>
              </a:ext>
            </a:extLst>
          </p:cNvPr>
          <p:cNvSpPr txBox="1"/>
          <p:nvPr/>
        </p:nvSpPr>
        <p:spPr>
          <a:xfrm>
            <a:off x="1066800" y="2336800"/>
            <a:ext cx="4597400" cy="368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100" b="1" dirty="0">
                <a:solidFill>
                  <a:srgbClr val="7C5CFC"/>
                </a:solidFill>
              </a:rPr>
              <a:t>CONTENT CATALOG</a:t>
            </a:r>
          </a:p>
          <a:p>
            <a:pPr>
              <a:spcBef>
                <a:spcPts val="300"/>
              </a:spcBef>
              <a:buNone/>
            </a:pPr>
            <a:r>
              <a:rPr lang="ko-KR" sz="1800" b="1" dirty="0">
                <a:solidFill>
                  <a:srgbClr val="1A1A2E"/>
                </a:solidFill>
              </a:rPr>
              <a:t>콘텐츠 카탈로그</a:t>
            </a:r>
          </a:p>
          <a:p>
            <a:pPr>
              <a:spcBef>
                <a:spcPts val="500"/>
              </a:spcBef>
              <a:buNone/>
            </a:pPr>
            <a:r>
              <a:rPr lang="ko-KR" sz="1100" b="1" dirty="0">
                <a:solidFill>
                  <a:srgbClr val="4154F1"/>
                </a:solidFill>
              </a:rPr>
              <a:t>단원</a:t>
            </a:r>
          </a:p>
          <a:p>
            <a:pPr>
              <a:buNone/>
            </a:pPr>
            <a:r>
              <a:rPr lang="ko-KR" sz="1200" dirty="0">
                <a:solidFill>
                  <a:srgbClr val="4B5563"/>
                </a:solidFill>
              </a:rPr>
              <a:t>주식 기초 · 시장과 가격 · 자산 배분 · 거시 흐름</a:t>
            </a:r>
          </a:p>
          <a:p>
            <a:pPr>
              <a:spcBef>
                <a:spcPts val="400"/>
              </a:spcBef>
              <a:buNone/>
            </a:pPr>
            <a:r>
              <a:rPr lang="ko-KR" sz="1100" b="1" dirty="0">
                <a:solidFill>
                  <a:srgbClr val="4154F1"/>
                </a:solidFill>
              </a:rPr>
              <a:t>레슨</a:t>
            </a:r>
          </a:p>
          <a:p>
            <a:pPr>
              <a:buNone/>
            </a:pPr>
            <a:r>
              <a:rPr lang="ko-KR" sz="1200" dirty="0">
                <a:solidFill>
                  <a:srgbClr val="4B5563"/>
                </a:solidFill>
              </a:rPr>
              <a:t>단원당 2~4개, 각 레슨 5분 분량으로 구성</a:t>
            </a:r>
          </a:p>
          <a:p>
            <a:pPr>
              <a:spcBef>
                <a:spcPts val="400"/>
              </a:spcBef>
              <a:buNone/>
            </a:pPr>
            <a:r>
              <a:rPr lang="ko-KR" sz="1100" b="1" dirty="0">
                <a:solidFill>
                  <a:srgbClr val="4154F1"/>
                </a:solidFill>
              </a:rPr>
              <a:t>문제 유형</a:t>
            </a:r>
          </a:p>
          <a:p>
            <a:pPr>
              <a:buNone/>
            </a:pPr>
            <a:r>
              <a:rPr lang="ko-KR" sz="1200" dirty="0">
                <a:solidFill>
                  <a:srgbClr val="4B5563"/>
                </a:solidFill>
              </a:rPr>
              <a:t>4지선다 · O/X · 빈칸 채우기 (DB로 구분)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5900B67-0D2A-B04C-B682-6369AA9BF792}"/>
              </a:ext>
            </a:extLst>
          </p:cNvPr>
          <p:cNvSpPr/>
          <p:nvPr/>
        </p:nvSpPr>
        <p:spPr>
          <a:xfrm>
            <a:off x="6223000" y="2032000"/>
            <a:ext cx="5207000" cy="4191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DirectionText">
            <a:extLst>
              <a:ext uri="{FF2B5EF4-FFF2-40B4-BE49-F238E27FC236}">
                <a16:creationId xmlns:a16="http://schemas.microsoft.com/office/drawing/2014/main" id="{32897E5F-BD5D-3345-9639-1D0CDA2ED08A}"/>
              </a:ext>
            </a:extLst>
          </p:cNvPr>
          <p:cNvSpPr txBox="1"/>
          <p:nvPr/>
        </p:nvSpPr>
        <p:spPr>
          <a:xfrm>
            <a:off x="6527800" y="2336800"/>
            <a:ext cx="4597400" cy="368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100" b="1" dirty="0">
                <a:solidFill>
                  <a:srgbClr val="7C5CFC"/>
                </a:solidFill>
              </a:rPr>
              <a:t>DIRECTION</a:t>
            </a:r>
          </a:p>
          <a:p>
            <a:pPr>
              <a:spcBef>
                <a:spcPts val="300"/>
              </a:spcBef>
              <a:buNone/>
            </a:pPr>
            <a:r>
              <a:rPr lang="ko-KR" sz="1800" b="1" dirty="0">
                <a:solidFill>
                  <a:srgbClr val="1A1A2E"/>
                </a:solidFill>
              </a:rPr>
              <a:t>전체 방향성</a:t>
            </a:r>
          </a:p>
          <a:p>
            <a:pPr marL="228600" indent="-228600">
              <a:spcBef>
                <a:spcPts val="600"/>
              </a:spcBef>
              <a:buClr>
                <a:srgbClr val="4154F1"/>
              </a:buClr>
              <a:buFont typeface="Arial"/>
              <a:buChar char="1."/>
            </a:pPr>
            <a:r>
              <a:rPr lang="ko-KR" sz="1300" b="1" dirty="0">
                <a:solidFill>
                  <a:srgbClr val="1A1A2E"/>
                </a:solidFill>
              </a:rPr>
              <a:t>짧고 굵게 </a:t>
            </a:r>
            <a:r>
              <a:rPr lang="ko-KR" sz="1300" dirty="0">
                <a:solidFill>
                  <a:srgbClr val="4B5563"/>
                </a:solidFill>
              </a:rPr>
              <a:t>· 한 화면 = 한 개념</a:t>
            </a:r>
          </a:p>
          <a:p>
            <a:pPr marL="228600" indent="-228600">
              <a:spcBef>
                <a:spcPts val="300"/>
              </a:spcBef>
              <a:buClr>
                <a:srgbClr val="4154F1"/>
              </a:buClr>
              <a:buFont typeface="Arial"/>
              <a:buChar char="2."/>
            </a:pPr>
            <a:r>
              <a:rPr lang="ko-KR" sz="1300" b="1" dirty="0">
                <a:solidFill>
                  <a:srgbClr val="1A1A2E"/>
                </a:solidFill>
              </a:rPr>
              <a:t>습관 형성 </a:t>
            </a:r>
            <a:r>
              <a:rPr lang="ko-KR" sz="1300" dirty="0">
                <a:solidFill>
                  <a:srgbClr val="4B5563"/>
                </a:solidFill>
              </a:rPr>
              <a:t>· 스트릭·코인·알림</a:t>
            </a:r>
          </a:p>
          <a:p>
            <a:pPr marL="228600" indent="-228600">
              <a:spcBef>
                <a:spcPts val="300"/>
              </a:spcBef>
              <a:buClr>
                <a:srgbClr val="4154F1"/>
              </a:buClr>
              <a:buFont typeface="Arial"/>
              <a:buChar char="3."/>
            </a:pPr>
            <a:r>
              <a:rPr lang="ko-KR" sz="1300" b="1" dirty="0">
                <a:solidFill>
                  <a:srgbClr val="1A1A2E"/>
                </a:solidFill>
              </a:rPr>
              <a:t>수집·경쟁 </a:t>
            </a:r>
            <a:r>
              <a:rPr lang="ko-KR" sz="1300" dirty="0">
                <a:solidFill>
                  <a:srgbClr val="4B5563"/>
                </a:solidFill>
              </a:rPr>
              <a:t>· 옷장·마켓·리그</a:t>
            </a:r>
          </a:p>
          <a:p>
            <a:pPr marL="228600" indent="-228600">
              <a:spcBef>
                <a:spcPts val="300"/>
              </a:spcBef>
              <a:buClr>
                <a:srgbClr val="4154F1"/>
              </a:buClr>
              <a:buFont typeface="Arial"/>
              <a:buChar char="4."/>
            </a:pPr>
            <a:r>
              <a:rPr lang="ko-KR" sz="1300" b="1" dirty="0">
                <a:solidFill>
                  <a:srgbClr val="1A1A2E"/>
                </a:solidFill>
              </a:rPr>
              <a:t>불안 낮춤 </a:t>
            </a:r>
            <a:r>
              <a:rPr lang="ko-KR" sz="1300" dirty="0">
                <a:solidFill>
                  <a:srgbClr val="4B5563"/>
                </a:solidFill>
              </a:rPr>
              <a:t>· “괜찮아요” 톤</a:t>
            </a:r>
          </a:p>
          <a:p>
            <a:pPr marL="228600" indent="-228600">
              <a:spcBef>
                <a:spcPts val="300"/>
              </a:spcBef>
              <a:buClr>
                <a:srgbClr val="4154F1"/>
              </a:buClr>
              <a:buFont typeface="Arial"/>
              <a:buChar char="5."/>
            </a:pPr>
            <a:r>
              <a:rPr lang="ko-KR" sz="1300" b="1" dirty="0">
                <a:solidFill>
                  <a:srgbClr val="1A1A2E"/>
                </a:solidFill>
              </a:rPr>
              <a:t>한국 시장 친화 </a:t>
            </a:r>
            <a:r>
              <a:rPr lang="ko-KR" sz="1300" dirty="0">
                <a:solidFill>
                  <a:srgbClr val="4B5563"/>
                </a:solidFill>
              </a:rPr>
              <a:t>· 원화·코스피·국내 ETF</a:t>
            </a:r>
          </a:p>
        </p:txBody>
      </p:sp>
    </p:spTree>
    <p:extLst>
      <p:ext uri="{BB962C8B-B14F-4D97-AF65-F5344CB8AC3E}">
        <p14:creationId xmlns:p14="http://schemas.microsoft.com/office/powerpoint/2010/main" val="3443746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2CDA1-91BC-E54D-A0AB-2F6664649739}"/>
              </a:ext>
            </a:extLst>
          </p:cNvPr>
          <p:cNvSpPr txBox="1"/>
          <p:nvPr/>
        </p:nvSpPr>
        <p:spPr>
          <a:xfrm>
            <a:off x="762000" y="508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6  ·  REFERENCE 1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C0EF3-6984-6146-9ADA-585C7A2AAD68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000" b="1">
                <a:solidFill>
                  <a:srgbClr val="1A1A2E"/>
                </a:solidFill>
              </a:rPr>
              <a:t>레퍼런스 사이트 </a:t>
            </a:r>
            <a:r>
              <a:rPr lang="en-US" altLang="ko-KR" sz="3000" b="1">
                <a:solidFill>
                  <a:srgbClr val="1A1A2E"/>
                </a:solidFill>
              </a:rPr>
              <a:t>1 — Blue Dragon Club</a:t>
            </a:r>
            <a:endParaRPr lang="ko-KR" altLang="en-US" sz="3000" b="1">
              <a:solidFill>
                <a:srgbClr val="1A1A2E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6BA5DD-A312-E448-979D-B3DBBA543CB3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Meta">
            <a:extLst>
              <a:ext uri="{FF2B5EF4-FFF2-40B4-BE49-F238E27FC236}">
                <a16:creationId xmlns:a16="http://schemas.microsoft.com/office/drawing/2014/main" id="{7BB6F6AF-4112-234D-AC66-68DF8E26F4F0}"/>
              </a:ext>
            </a:extLst>
          </p:cNvPr>
          <p:cNvSpPr txBox="1"/>
          <p:nvPr/>
        </p:nvSpPr>
        <p:spPr>
          <a:xfrm>
            <a:off x="762000" y="19050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b="1" dirty="0">
                <a:solidFill>
                  <a:srgbClr val="4154F1"/>
                </a:solidFill>
              </a:rPr>
              <a:t>bdc.cau.ac.kr</a:t>
            </a:r>
            <a:r>
              <a:rPr lang="ko-KR" sz="1100" dirty="0">
                <a:solidFill>
                  <a:srgbClr val="64748B"/>
                </a:solidFill>
              </a:rPr>
              <a:t>   ·   유형: 학과 동아리 소개 웹사이트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205690D-0BF9-6F4F-B357-96E10EA1A0FF}"/>
              </a:ext>
            </a:extLst>
          </p:cNvPr>
          <p:cNvSpPr/>
          <p:nvPr/>
        </p:nvSpPr>
        <p:spPr>
          <a:xfrm>
            <a:off x="762000" y="2413000"/>
            <a:ext cx="5207000" cy="3556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D1F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7E31B3-0F96-2A4A-930C-E81B625CD9C4}"/>
              </a:ext>
            </a:extLst>
          </p:cNvPr>
          <p:cNvSpPr/>
          <p:nvPr/>
        </p:nvSpPr>
        <p:spPr>
          <a:xfrm>
            <a:off x="762000" y="2413000"/>
            <a:ext cx="5207000" cy="762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GoodText">
            <a:extLst>
              <a:ext uri="{FF2B5EF4-FFF2-40B4-BE49-F238E27FC236}">
                <a16:creationId xmlns:a16="http://schemas.microsoft.com/office/drawing/2014/main" id="{3EE1ED63-B332-184E-8594-39CEB991DE3D}"/>
              </a:ext>
            </a:extLst>
          </p:cNvPr>
          <p:cNvSpPr txBox="1"/>
          <p:nvPr/>
        </p:nvSpPr>
        <p:spPr>
          <a:xfrm>
            <a:off x="1066800" y="2692400"/>
            <a:ext cx="45974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0B981"/>
                </a:solidFill>
              </a:rPr>
              <a:t>좋다고 본 점</a:t>
            </a:r>
          </a:p>
          <a:p>
            <a:pPr marL="171450" indent="-171450">
              <a:spcBef>
                <a:spcPts val="500"/>
              </a:spcBef>
              <a:buClr>
                <a:srgbClr val="10B981"/>
              </a:buClr>
              <a:buFont typeface="Arial"/>
              <a:buChar char="✓"/>
            </a:pPr>
            <a:r>
              <a:rPr lang="ko-KR" sz="1200" b="1" dirty="0">
                <a:solidFill>
                  <a:srgbClr val="1A1A2E"/>
                </a:solidFill>
              </a:rPr>
              <a:t>명확한 정보 위계 </a:t>
            </a:r>
            <a:r>
              <a:rPr lang="ko-KR" sz="1200" dirty="0">
                <a:solidFill>
                  <a:srgbClr val="4B5563"/>
                </a:solidFill>
              </a:rPr>
              <a:t>· Hero → 소개 → 활동 → 공지 → 문의</a:t>
            </a:r>
          </a:p>
          <a:p>
            <a:pPr marL="171450" indent="-171450">
              <a:spcBef>
                <a:spcPts val="300"/>
              </a:spcBef>
              <a:buClr>
                <a:srgbClr val="10B981"/>
              </a:buClr>
              <a:buFont typeface="Arial"/>
              <a:buChar char="✓"/>
            </a:pPr>
            <a:r>
              <a:rPr lang="ko-KR" sz="1200" b="1" dirty="0">
                <a:solidFill>
                  <a:srgbClr val="1A1A2E"/>
                </a:solidFill>
              </a:rPr>
              <a:t>단정한 카드 그리드 </a:t>
            </a:r>
            <a:r>
              <a:rPr lang="ko-KR" sz="1200" dirty="0">
                <a:solidFill>
                  <a:srgbClr val="4B5563"/>
                </a:solidFill>
              </a:rPr>
              <a:t>· 활동·공지를 동일 카드로 통일</a:t>
            </a:r>
          </a:p>
          <a:p>
            <a:pPr marL="171450" indent="-171450">
              <a:spcBef>
                <a:spcPts val="300"/>
              </a:spcBef>
              <a:buClr>
                <a:srgbClr val="10B981"/>
              </a:buClr>
              <a:buFont typeface="Arial"/>
              <a:buChar char="✓"/>
            </a:pPr>
            <a:r>
              <a:rPr lang="ko-KR" sz="1200" b="1" dirty="0">
                <a:solidFill>
                  <a:srgbClr val="1A1A2E"/>
                </a:solidFill>
              </a:rPr>
              <a:t>푸터 정보 밀도 </a:t>
            </a:r>
            <a:r>
              <a:rPr lang="ko-KR" sz="1200" dirty="0">
                <a:solidFill>
                  <a:srgbClr val="4B5563"/>
                </a:solidFill>
              </a:rPr>
              <a:t>· 연락처·주소·SNS 한 줄 압축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DEE03BA6-9302-0E44-8A91-16BEAD9E0572}"/>
              </a:ext>
            </a:extLst>
          </p:cNvPr>
          <p:cNvSpPr/>
          <p:nvPr/>
        </p:nvSpPr>
        <p:spPr>
          <a:xfrm>
            <a:off x="6223000" y="2413000"/>
            <a:ext cx="5207000" cy="3556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ECAC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709E85-21AC-1E41-8E8E-22366FE69753}"/>
              </a:ext>
            </a:extLst>
          </p:cNvPr>
          <p:cNvSpPr/>
          <p:nvPr/>
        </p:nvSpPr>
        <p:spPr>
          <a:xfrm>
            <a:off x="6223000" y="2413000"/>
            <a:ext cx="5207000" cy="762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BadText">
            <a:extLst>
              <a:ext uri="{FF2B5EF4-FFF2-40B4-BE49-F238E27FC236}">
                <a16:creationId xmlns:a16="http://schemas.microsoft.com/office/drawing/2014/main" id="{F678E9CF-6F01-5149-A52B-AB5CD1B70ED0}"/>
              </a:ext>
            </a:extLst>
          </p:cNvPr>
          <p:cNvSpPr txBox="1"/>
          <p:nvPr/>
        </p:nvSpPr>
        <p:spPr>
          <a:xfrm>
            <a:off x="6527800" y="2692400"/>
            <a:ext cx="45974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EF4444"/>
                </a:solidFill>
              </a:rPr>
              <a:t>아쉽다고 본 점</a:t>
            </a:r>
          </a:p>
          <a:p>
            <a:pPr marL="171450" indent="-171450">
              <a:spcBef>
                <a:spcPts val="5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200" dirty="0">
                <a:solidFill>
                  <a:srgbClr val="4B5563"/>
                </a:solidFill>
              </a:rPr>
              <a:t>정보 전달 위주 · </a:t>
            </a:r>
            <a:r>
              <a:rPr lang="ko-KR" sz="1200" b="1" dirty="0">
                <a:solidFill>
                  <a:srgbClr val="1A1A2E"/>
                </a:solidFill>
              </a:rPr>
              <a:t>상호작용이 거의 없음</a:t>
            </a:r>
          </a:p>
          <a:p>
            <a:pPr marL="171450" indent="-171450">
              <a:spcBef>
                <a:spcPts val="3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200" b="1" dirty="0">
                <a:solidFill>
                  <a:srgbClr val="1A1A2E"/>
                </a:solidFill>
              </a:rPr>
              <a:t>모바일 가독성 </a:t>
            </a:r>
            <a:r>
              <a:rPr lang="ko-KR" sz="1200" dirty="0">
                <a:solidFill>
                  <a:srgbClr val="4B5563"/>
                </a:solidFill>
              </a:rPr>
              <a:t>· 긴 한 줄, 작은 본문</a:t>
            </a:r>
          </a:p>
          <a:p>
            <a:pPr marL="171450" indent="-171450">
              <a:spcBef>
                <a:spcPts val="3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200" b="1" dirty="0">
                <a:solidFill>
                  <a:srgbClr val="1A1A2E"/>
                </a:solidFill>
              </a:rPr>
              <a:t>마이크로 인터랙션 부재 </a:t>
            </a:r>
            <a:r>
              <a:rPr lang="ko-KR" sz="1200" dirty="0">
                <a:solidFill>
                  <a:srgbClr val="4B5563"/>
                </a:solidFill>
              </a:rPr>
              <a:t>· “정적” 인상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0D5EBAE-767E-2F40-BB50-522B8FCBB75A}"/>
              </a:ext>
            </a:extLst>
          </p:cNvPr>
          <p:cNvSpPr/>
          <p:nvPr/>
        </p:nvSpPr>
        <p:spPr>
          <a:xfrm>
            <a:off x="762000" y="6146800"/>
            <a:ext cx="10668000" cy="4572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SumText">
            <a:extLst>
              <a:ext uri="{FF2B5EF4-FFF2-40B4-BE49-F238E27FC236}">
                <a16:creationId xmlns:a16="http://schemas.microsoft.com/office/drawing/2014/main" id="{CAC67632-6F12-C24F-A6CB-698380840B61}"/>
              </a:ext>
            </a:extLst>
          </p:cNvPr>
          <p:cNvSpPr txBox="1"/>
          <p:nvPr/>
        </p:nvSpPr>
        <p:spPr>
          <a:xfrm>
            <a:off x="1016000" y="61976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ko-KR" sz="1100" b="1" dirty="0">
                <a:solidFill>
                  <a:srgbClr val="10B981"/>
                </a:solidFill>
              </a:rPr>
              <a:t>→ 반영 </a:t>
            </a:r>
            <a:r>
              <a:rPr lang="ko-KR" sz="1100" dirty="0">
                <a:solidFill>
                  <a:srgbClr val="4B5563"/>
                </a:solidFill>
              </a:rPr>
              <a:t>카드 그리드 · 명확한 섹션 위계      </a:t>
            </a:r>
            <a:r>
              <a:rPr lang="ko-KR" sz="1100" b="1" dirty="0">
                <a:solidFill>
                  <a:srgbClr val="EF4444"/>
                </a:solidFill>
              </a:rPr>
              <a:t>→ 버림 </a:t>
            </a:r>
            <a:r>
              <a:rPr lang="ko-KR" sz="1100" dirty="0">
                <a:solidFill>
                  <a:srgbClr val="4B5563"/>
                </a:solidFill>
              </a:rPr>
              <a:t>정보 나열 위주의 정적 분위기</a:t>
            </a:r>
          </a:p>
        </p:txBody>
      </p:sp>
    </p:spTree>
    <p:extLst>
      <p:ext uri="{BB962C8B-B14F-4D97-AF65-F5344CB8AC3E}">
        <p14:creationId xmlns:p14="http://schemas.microsoft.com/office/powerpoint/2010/main" val="3736220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5535BD-7645-6E49-AAB9-3A20324F685A}"/>
              </a:ext>
            </a:extLst>
          </p:cNvPr>
          <p:cNvSpPr txBox="1"/>
          <p:nvPr/>
        </p:nvSpPr>
        <p:spPr>
          <a:xfrm>
            <a:off x="762000" y="508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7  ·  REFERENCE 2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653610-A9AF-7F4D-8033-38EE4D585EDF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000" b="1">
                <a:solidFill>
                  <a:srgbClr val="1A1A2E"/>
                </a:solidFill>
              </a:rPr>
              <a:t>레퍼런스 사이트 </a:t>
            </a:r>
            <a:r>
              <a:rPr lang="en-US" altLang="ko-KR" sz="3000" b="1">
                <a:solidFill>
                  <a:srgbClr val="1A1A2E"/>
                </a:solidFill>
              </a:rPr>
              <a:t>2 — </a:t>
            </a:r>
            <a:r>
              <a:rPr lang="ko-KR" altLang="en-US" sz="3000" b="1">
                <a:solidFill>
                  <a:srgbClr val="1A1A2E"/>
                </a:solidFill>
              </a:rPr>
              <a:t>듀오링고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5B3017-8A52-5D40-8490-1C30E6624325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Meta">
            <a:extLst>
              <a:ext uri="{FF2B5EF4-FFF2-40B4-BE49-F238E27FC236}">
                <a16:creationId xmlns:a16="http://schemas.microsoft.com/office/drawing/2014/main" id="{734F1CAC-2E4F-314E-8C87-A624FE3548F5}"/>
              </a:ext>
            </a:extLst>
          </p:cNvPr>
          <p:cNvSpPr txBox="1"/>
          <p:nvPr/>
        </p:nvSpPr>
        <p:spPr>
          <a:xfrm>
            <a:off x="762000" y="1905000"/>
            <a:ext cx="1066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100" b="1" dirty="0">
                <a:solidFill>
                  <a:srgbClr val="4154F1"/>
                </a:solidFill>
              </a:rPr>
              <a:t>duolingo.com</a:t>
            </a:r>
            <a:r>
              <a:rPr lang="ko-KR" sz="1100" dirty="0">
                <a:solidFill>
                  <a:srgbClr val="64748B"/>
                </a:solidFill>
              </a:rPr>
              <a:t>   ·   유형: 게이미피케이션 학습 앱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E1AA397-1A30-094B-B9A4-CDA5BF3D7EF1}"/>
              </a:ext>
            </a:extLst>
          </p:cNvPr>
          <p:cNvSpPr/>
          <p:nvPr/>
        </p:nvSpPr>
        <p:spPr>
          <a:xfrm>
            <a:off x="762000" y="2413000"/>
            <a:ext cx="5207000" cy="3556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D1F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1323B8-E539-F840-9615-CC4820A8D34D}"/>
              </a:ext>
            </a:extLst>
          </p:cNvPr>
          <p:cNvSpPr/>
          <p:nvPr/>
        </p:nvSpPr>
        <p:spPr>
          <a:xfrm>
            <a:off x="762000" y="2413000"/>
            <a:ext cx="5207000" cy="762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GoodText">
            <a:extLst>
              <a:ext uri="{FF2B5EF4-FFF2-40B4-BE49-F238E27FC236}">
                <a16:creationId xmlns:a16="http://schemas.microsoft.com/office/drawing/2014/main" id="{28203191-E4E1-1B49-B1CD-B39E6B9FB431}"/>
              </a:ext>
            </a:extLst>
          </p:cNvPr>
          <p:cNvSpPr txBox="1"/>
          <p:nvPr/>
        </p:nvSpPr>
        <p:spPr>
          <a:xfrm>
            <a:off x="1066800" y="2692400"/>
            <a:ext cx="45974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0B981"/>
                </a:solidFill>
              </a:rPr>
              <a:t>좋다고 본 점</a:t>
            </a:r>
          </a:p>
          <a:p>
            <a:pPr marL="171450" indent="-171450">
              <a:spcBef>
                <a:spcPts val="400"/>
              </a:spcBef>
              <a:buClr>
                <a:srgbClr val="10B981"/>
              </a:buClr>
              <a:buFont typeface="Arial"/>
              <a:buChar char="✓"/>
            </a:pPr>
            <a:r>
              <a:rPr lang="ko-KR" sz="1200" b="1" dirty="0">
                <a:solidFill>
                  <a:srgbClr val="1A1A2E"/>
                </a:solidFill>
              </a:rPr>
              <a:t>“푸시 버튼” </a:t>
            </a:r>
            <a:r>
              <a:rPr lang="ko-KR" sz="1200" dirty="0">
                <a:solidFill>
                  <a:srgbClr val="4B5563"/>
                </a:solidFill>
              </a:rPr>
              <a:t>· 그림자로 3D 짓눌림 감각</a:t>
            </a:r>
          </a:p>
          <a:p>
            <a:pPr marL="171450" indent="-171450">
              <a:spcBef>
                <a:spcPts val="300"/>
              </a:spcBef>
              <a:buClr>
                <a:srgbClr val="10B981"/>
              </a:buClr>
              <a:buFont typeface="Arial"/>
              <a:buChar char="✓"/>
            </a:pPr>
            <a:r>
              <a:rPr lang="ko-KR" sz="1200" b="1" dirty="0">
                <a:solidFill>
                  <a:srgbClr val="1A1A2E"/>
                </a:solidFill>
              </a:rPr>
              <a:t>즉시 피드백 </a:t>
            </a:r>
            <a:r>
              <a:rPr lang="ko-KR" sz="1200" dirty="0">
                <a:solidFill>
                  <a:srgbClr val="4B5563"/>
                </a:solidFill>
              </a:rPr>
              <a:t>· 시각·청각 보상, 컨페티</a:t>
            </a:r>
          </a:p>
          <a:p>
            <a:pPr marL="171450" indent="-171450">
              <a:spcBef>
                <a:spcPts val="300"/>
              </a:spcBef>
              <a:buClr>
                <a:srgbClr val="10B981"/>
              </a:buClr>
              <a:buFont typeface="Arial"/>
              <a:buChar char="✓"/>
            </a:pPr>
            <a:r>
              <a:rPr lang="ko-KR" sz="1200" b="1" dirty="0">
                <a:solidFill>
                  <a:srgbClr val="1A1A2E"/>
                </a:solidFill>
              </a:rPr>
              <a:t>XP · 스트릭 · 리그 </a:t>
            </a:r>
            <a:r>
              <a:rPr lang="ko-KR" sz="1200" dirty="0">
                <a:solidFill>
                  <a:srgbClr val="4B5563"/>
                </a:solidFill>
              </a:rPr>
              <a:t>· 매일 들어오게 하는 게임 메커닉</a:t>
            </a:r>
          </a:p>
          <a:p>
            <a:pPr marL="171450" indent="-171450">
              <a:spcBef>
                <a:spcPts val="300"/>
              </a:spcBef>
              <a:buClr>
                <a:srgbClr val="10B981"/>
              </a:buClr>
              <a:buFont typeface="Arial"/>
              <a:buChar char="✓"/>
            </a:pPr>
            <a:r>
              <a:rPr lang="ko-KR" sz="1200" b="1" dirty="0">
                <a:solidFill>
                  <a:srgbClr val="1A1A2E"/>
                </a:solidFill>
              </a:rPr>
              <a:t>레슨 노드 맵 </a:t>
            </a:r>
            <a:r>
              <a:rPr lang="ko-KR" sz="1200" dirty="0">
                <a:solidFill>
                  <a:srgbClr val="4B5563"/>
                </a:solidFill>
              </a:rPr>
              <a:t>· 지그재그 원형 노드, 잠금 해제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2F812A81-22B8-B143-9F32-A7FF3B2520E9}"/>
              </a:ext>
            </a:extLst>
          </p:cNvPr>
          <p:cNvSpPr/>
          <p:nvPr/>
        </p:nvSpPr>
        <p:spPr>
          <a:xfrm>
            <a:off x="6223000" y="2413000"/>
            <a:ext cx="5207000" cy="3556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ECAC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A419A9-DF75-814E-B763-71B5DE781875}"/>
              </a:ext>
            </a:extLst>
          </p:cNvPr>
          <p:cNvSpPr/>
          <p:nvPr/>
        </p:nvSpPr>
        <p:spPr>
          <a:xfrm>
            <a:off x="6223000" y="2413000"/>
            <a:ext cx="5207000" cy="762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BadText">
            <a:extLst>
              <a:ext uri="{FF2B5EF4-FFF2-40B4-BE49-F238E27FC236}">
                <a16:creationId xmlns:a16="http://schemas.microsoft.com/office/drawing/2014/main" id="{EEB3D3E0-2F12-D646-9EB9-0C8EDAE046D5}"/>
              </a:ext>
            </a:extLst>
          </p:cNvPr>
          <p:cNvSpPr txBox="1"/>
          <p:nvPr/>
        </p:nvSpPr>
        <p:spPr>
          <a:xfrm>
            <a:off x="6527800" y="2692400"/>
            <a:ext cx="4597400" cy="317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EF4444"/>
                </a:solidFill>
              </a:rPr>
              <a:t>아쉽다고 본 점</a:t>
            </a:r>
          </a:p>
          <a:p>
            <a:pPr marL="171450" indent="-171450">
              <a:spcBef>
                <a:spcPts val="4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200" dirty="0">
                <a:solidFill>
                  <a:srgbClr val="4B5563"/>
                </a:solidFill>
              </a:rPr>
              <a:t>외국어 → </a:t>
            </a:r>
            <a:r>
              <a:rPr lang="ko-KR" sz="1200" b="1" dirty="0">
                <a:solidFill>
                  <a:srgbClr val="1A1A2E"/>
                </a:solidFill>
              </a:rPr>
              <a:t>금융 도메인 그대로 이식 어려움</a:t>
            </a:r>
          </a:p>
          <a:p>
            <a:pPr marL="171450" indent="-171450">
              <a:spcBef>
                <a:spcPts val="3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200" dirty="0">
                <a:solidFill>
                  <a:srgbClr val="4B5563"/>
                </a:solidFill>
              </a:rPr>
              <a:t>정답·오답 이분법이 늘 깔끔하지 않음</a:t>
            </a:r>
          </a:p>
          <a:p>
            <a:pPr marL="171450" indent="-171450">
              <a:spcBef>
                <a:spcPts val="3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200" b="1" dirty="0">
                <a:solidFill>
                  <a:srgbClr val="1A1A2E"/>
                </a:solidFill>
              </a:rPr>
              <a:t>“화내는” 알림 </a:t>
            </a:r>
            <a:r>
              <a:rPr lang="ko-KR" sz="1200" dirty="0">
                <a:solidFill>
                  <a:srgbClr val="4B5563"/>
                </a:solidFill>
              </a:rPr>
              <a:t>· 한국 정서에 다소 공격적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B4EFDE7-FBB8-6D41-976B-D7783C913C8B}"/>
              </a:ext>
            </a:extLst>
          </p:cNvPr>
          <p:cNvSpPr/>
          <p:nvPr/>
        </p:nvSpPr>
        <p:spPr>
          <a:xfrm>
            <a:off x="762000" y="6146800"/>
            <a:ext cx="10668000" cy="4572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SumText">
            <a:extLst>
              <a:ext uri="{FF2B5EF4-FFF2-40B4-BE49-F238E27FC236}">
                <a16:creationId xmlns:a16="http://schemas.microsoft.com/office/drawing/2014/main" id="{12DF141E-3C15-5F4D-8D76-06F0CC0A600F}"/>
              </a:ext>
            </a:extLst>
          </p:cNvPr>
          <p:cNvSpPr txBox="1"/>
          <p:nvPr/>
        </p:nvSpPr>
        <p:spPr>
          <a:xfrm>
            <a:off x="1016000" y="61976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ko-KR" sz="1100" b="1" dirty="0">
                <a:solidFill>
                  <a:srgbClr val="10B981"/>
                </a:solidFill>
              </a:rPr>
              <a:t>→ 반영 </a:t>
            </a:r>
            <a:r>
              <a:rPr lang="ko-KR" sz="1100" dirty="0">
                <a:solidFill>
                  <a:srgbClr val="4B5563"/>
                </a:solidFill>
              </a:rPr>
              <a:t>푸시 버튼·XP·스트릭·리그·즉시 피드백      </a:t>
            </a:r>
            <a:r>
              <a:rPr lang="ko-KR" sz="1100" b="1" dirty="0">
                <a:solidFill>
                  <a:srgbClr val="FFB400"/>
                </a:solidFill>
              </a:rPr>
              <a:t>→ 순화 </a:t>
            </a:r>
            <a:r>
              <a:rPr lang="ko-KR" sz="1100" dirty="0">
                <a:solidFill>
                  <a:srgbClr val="4B5563"/>
                </a:solidFill>
              </a:rPr>
              <a:t>알림은 “괜찮아요” 톤</a:t>
            </a:r>
          </a:p>
        </p:txBody>
      </p:sp>
    </p:spTree>
    <p:extLst>
      <p:ext uri="{BB962C8B-B14F-4D97-AF65-F5344CB8AC3E}">
        <p14:creationId xmlns:p14="http://schemas.microsoft.com/office/powerpoint/2010/main" val="4000261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B440C9-D527-3441-BF29-4EDA2D57C438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8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D4F63-04DE-FF41-A8AD-686FEEF242FF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1A1A2E"/>
                </a:solidFill>
              </a:rPr>
              <a:t>반영 요소 </a:t>
            </a:r>
            <a:r>
              <a:rPr lang="en-US" altLang="ko-KR" sz="3200" b="1">
                <a:solidFill>
                  <a:srgbClr val="1A1A2E"/>
                </a:solidFill>
              </a:rPr>
              <a:t>/ </a:t>
            </a:r>
            <a:r>
              <a:rPr lang="ko-KR" altLang="en-US" sz="3200" b="1">
                <a:solidFill>
                  <a:srgbClr val="1A1A2E"/>
                </a:solidFill>
              </a:rPr>
              <a:t>반영하지 않을 요소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51A150-CFAD-B445-B585-23168274BD73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094BBC1-DEE4-0249-AAF6-4FC76F0009A8}"/>
              </a:ext>
            </a:extLst>
          </p:cNvPr>
          <p:cNvSpPr/>
          <p:nvPr/>
        </p:nvSpPr>
        <p:spPr>
          <a:xfrm>
            <a:off x="762000" y="2032000"/>
            <a:ext cx="5207000" cy="43180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YesText">
            <a:extLst>
              <a:ext uri="{FF2B5EF4-FFF2-40B4-BE49-F238E27FC236}">
                <a16:creationId xmlns:a16="http://schemas.microsoft.com/office/drawing/2014/main" id="{8A9314B0-D03F-1045-8703-C3B8555F7E5B}"/>
              </a:ext>
            </a:extLst>
          </p:cNvPr>
          <p:cNvSpPr txBox="1"/>
          <p:nvPr/>
        </p:nvSpPr>
        <p:spPr>
          <a:xfrm>
            <a:off x="1066800" y="2336800"/>
            <a:ext cx="45974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100" b="1" dirty="0">
                <a:solidFill>
                  <a:srgbClr val="C7CCFC"/>
                </a:solidFill>
              </a:rPr>
              <a:t>WILL ADOPT</a:t>
            </a:r>
          </a:p>
          <a:p>
            <a:pPr>
              <a:spcBef>
                <a:spcPts val="200"/>
              </a:spcBef>
              <a:buNone/>
            </a:pPr>
            <a:r>
              <a:rPr lang="ko-KR" sz="2000" b="1" dirty="0">
                <a:solidFill>
                  <a:srgbClr val="FFFFFF"/>
                </a:solidFill>
              </a:rPr>
              <a:t>반영할 요소</a:t>
            </a:r>
          </a:p>
          <a:p>
            <a:pPr marL="171450" indent="-171450">
              <a:spcBef>
                <a:spcPts val="250"/>
              </a:spcBef>
              <a:buClr>
                <a:srgbClr val="FFD56B"/>
              </a:buClr>
              <a:buFont typeface="Arial"/>
              <a:buChar char="✓"/>
            </a:pPr>
            <a:r>
              <a:rPr lang="ko-KR" sz="1200" dirty="0">
                <a:solidFill>
                  <a:srgbClr val="FFFFFF"/>
                </a:solidFill>
              </a:rPr>
              <a:t>듀오링고 식 푸시 버튼 (3D 짓눌림)</a:t>
            </a:r>
          </a:p>
          <a:p>
            <a:pPr marL="171450" indent="-171450">
              <a:spcBef>
                <a:spcPts val="250"/>
              </a:spcBef>
              <a:buClr>
                <a:srgbClr val="FFD56B"/>
              </a:buClr>
              <a:buFont typeface="Arial"/>
              <a:buChar char="✓"/>
            </a:pPr>
            <a:r>
              <a:rPr lang="ko-KR" sz="1200" dirty="0">
                <a:solidFill>
                  <a:srgbClr val="FFFFFF"/>
                </a:solidFill>
              </a:rPr>
              <a:t>painterly chibi 캐릭터 + 옷차림 풀세트</a:t>
            </a:r>
          </a:p>
          <a:p>
            <a:pPr marL="171450" indent="-171450">
              <a:spcBef>
                <a:spcPts val="250"/>
              </a:spcBef>
              <a:buClr>
                <a:srgbClr val="FFD56B"/>
              </a:buClr>
              <a:buFont typeface="Arial"/>
              <a:buChar char="✓"/>
            </a:pPr>
            <a:r>
              <a:rPr lang="ko-KR" sz="1200" dirty="0">
                <a:solidFill>
                  <a:srgbClr val="FFFFFF"/>
                </a:solidFill>
              </a:rPr>
              <a:t>코인 · XP · 스트릭 · 6단계 리그</a:t>
            </a:r>
          </a:p>
          <a:p>
            <a:pPr marL="171450" indent="-171450">
              <a:spcBef>
                <a:spcPts val="250"/>
              </a:spcBef>
              <a:buClr>
                <a:srgbClr val="FFD56B"/>
              </a:buClr>
              <a:buFont typeface="Arial"/>
              <a:buChar char="✓"/>
            </a:pPr>
            <a:r>
              <a:rPr lang="ko-KR" sz="1200" dirty="0">
                <a:solidFill>
                  <a:srgbClr val="FFFFFF"/>
                </a:solidFill>
              </a:rPr>
              <a:t>스킨 마켓 · 친구 시스템 · 대시보드</a:t>
            </a:r>
          </a:p>
          <a:p>
            <a:pPr marL="171450" indent="-171450">
              <a:spcBef>
                <a:spcPts val="250"/>
              </a:spcBef>
              <a:buClr>
                <a:srgbClr val="FFD56B"/>
              </a:buClr>
              <a:buFont typeface="Arial"/>
              <a:buChar char="✓"/>
            </a:pPr>
            <a:r>
              <a:rPr lang="ko-KR" sz="1200" dirty="0">
                <a:solidFill>
                  <a:srgbClr val="FFFFFF"/>
                </a:solidFill>
              </a:rPr>
              <a:t>벨 아이콘 알림 시스템 (자동 생성)</a:t>
            </a:r>
          </a:p>
          <a:p>
            <a:pPr marL="171450" indent="-171450">
              <a:spcBef>
                <a:spcPts val="250"/>
              </a:spcBef>
              <a:buClr>
                <a:srgbClr val="FFD56B"/>
              </a:buClr>
              <a:buFont typeface="Arial"/>
              <a:buChar char="✓"/>
            </a:pPr>
            <a:r>
              <a:rPr lang="ko-KR" sz="1200" dirty="0">
                <a:solidFill>
                  <a:srgbClr val="FFFFFF"/>
                </a:solidFill>
              </a:rPr>
              <a:t>카운트업 통계 (사회적 증거)</a:t>
            </a:r>
          </a:p>
          <a:p>
            <a:pPr marL="171450" indent="-171450">
              <a:spcBef>
                <a:spcPts val="250"/>
              </a:spcBef>
              <a:buClr>
                <a:srgbClr val="FFD56B"/>
              </a:buClr>
              <a:buFont typeface="Arial"/>
              <a:buChar char="✓"/>
            </a:pPr>
            <a:r>
              <a:rPr lang="ko-KR" sz="1200" dirty="0">
                <a:solidFill>
                  <a:srgbClr val="FFFFFF"/>
                </a:solidFill>
              </a:rPr>
              <a:t>BDC 식 명확한 섹션 위계 + 카드 그리드</a:t>
            </a:r>
          </a:p>
          <a:p>
            <a:pPr marL="171450" indent="-171450">
              <a:spcBef>
                <a:spcPts val="250"/>
              </a:spcBef>
              <a:buClr>
                <a:srgbClr val="FFD56B"/>
              </a:buClr>
              <a:buFont typeface="Arial"/>
              <a:buChar char="✓"/>
            </a:pPr>
            <a:r>
              <a:rPr lang="ko-KR" sz="1200" dirty="0">
                <a:solidFill>
                  <a:srgbClr val="FFFFFF"/>
                </a:solidFill>
              </a:rPr>
              <a:t>Pretendard 글꼴 · 친근한 한국어 톤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56D5E4A-632F-7B4E-BCF2-DFF0DCCBD67E}"/>
              </a:ext>
            </a:extLst>
          </p:cNvPr>
          <p:cNvSpPr/>
          <p:nvPr/>
        </p:nvSpPr>
        <p:spPr>
          <a:xfrm>
            <a:off x="6223000" y="2032000"/>
            <a:ext cx="5207000" cy="4318000"/>
          </a:xfrm>
          <a:prstGeom prst="roundRect">
            <a:avLst/>
          </a:prstGeom>
          <a:solidFill>
            <a:srgbClr val="F4F5FB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NoText">
            <a:extLst>
              <a:ext uri="{FF2B5EF4-FFF2-40B4-BE49-F238E27FC236}">
                <a16:creationId xmlns:a16="http://schemas.microsoft.com/office/drawing/2014/main" id="{B1C82BAE-B65F-164D-BD8E-3F5942F1DBB9}"/>
              </a:ext>
            </a:extLst>
          </p:cNvPr>
          <p:cNvSpPr txBox="1"/>
          <p:nvPr/>
        </p:nvSpPr>
        <p:spPr>
          <a:xfrm>
            <a:off x="6527800" y="2336800"/>
            <a:ext cx="45974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100" b="1" dirty="0">
                <a:solidFill>
                  <a:srgbClr val="EF4444"/>
                </a:solidFill>
              </a:rPr>
              <a:t>WILL NOT ADOPT</a:t>
            </a:r>
          </a:p>
          <a:p>
            <a:pPr>
              <a:spcBef>
                <a:spcPts val="200"/>
              </a:spcBef>
              <a:buNone/>
            </a:pPr>
            <a:r>
              <a:rPr lang="ko-KR" sz="2000" b="1" dirty="0">
                <a:solidFill>
                  <a:srgbClr val="1A1A2E"/>
                </a:solidFill>
              </a:rPr>
              <a:t>반영하지 않을 요소</a:t>
            </a:r>
          </a:p>
          <a:p>
            <a:pPr marL="171450" indent="-171450">
              <a:spcBef>
                <a:spcPts val="4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300" dirty="0">
                <a:solidFill>
                  <a:srgbClr val="4B5563"/>
                </a:solidFill>
              </a:rPr>
              <a:t>듀오링고의 “화내는 캐릭터 알림”</a:t>
            </a:r>
          </a:p>
          <a:p>
            <a:pPr marL="171450" indent="-171450">
              <a:spcBef>
                <a:spcPts val="4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300" dirty="0">
                <a:solidFill>
                  <a:srgbClr val="4B5563"/>
                </a:solidFill>
              </a:rPr>
              <a:t>외국어 학습 특화 채점 UI (스피킹 등)</a:t>
            </a:r>
          </a:p>
          <a:p>
            <a:pPr marL="171450" indent="-171450">
              <a:spcBef>
                <a:spcPts val="4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300" dirty="0">
                <a:solidFill>
                  <a:srgbClr val="4B5563"/>
                </a:solidFill>
              </a:rPr>
              <a:t>BDC의 정보 나열형 정적 디자인</a:t>
            </a:r>
          </a:p>
          <a:p>
            <a:pPr marL="171450" indent="-171450">
              <a:spcBef>
                <a:spcPts val="400"/>
              </a:spcBef>
              <a:buClr>
                <a:srgbClr val="EF4444"/>
              </a:buClr>
              <a:buFont typeface="Arial"/>
              <a:buChar char="✕"/>
            </a:pPr>
            <a:r>
              <a:rPr lang="ko-KR" sz="1300" dirty="0">
                <a:solidFill>
                  <a:srgbClr val="4B5563"/>
                </a:solidFill>
              </a:rPr>
              <a:t>광고 · 유료 결제 흐름</a:t>
            </a:r>
          </a:p>
        </p:txBody>
      </p:sp>
    </p:spTree>
    <p:extLst>
      <p:ext uri="{BB962C8B-B14F-4D97-AF65-F5344CB8AC3E}">
        <p14:creationId xmlns:p14="http://schemas.microsoft.com/office/powerpoint/2010/main" val="309667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1731E7-9FC8-F347-9F91-58FBA0E9AE30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9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DD410-C7AB-154C-9E26-7B66A43DFB59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1A1A2E"/>
                </a:solidFill>
              </a:rPr>
              <a:t>선택한 부트스트랩 템플릿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B0B653-BD3B-BA4C-85F9-6988CB5A2704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34FC645-82E1-AD42-9ACA-18D3FAE6F93D}"/>
              </a:ext>
            </a:extLst>
          </p:cNvPr>
          <p:cNvSpPr/>
          <p:nvPr/>
        </p:nvSpPr>
        <p:spPr>
          <a:xfrm>
            <a:off x="762000" y="2032000"/>
            <a:ext cx="106680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3448C2A-7D93-7D45-AF01-C42A8EB9122E}"/>
              </a:ext>
            </a:extLst>
          </p:cNvPr>
          <p:cNvSpPr/>
          <p:nvPr/>
        </p:nvSpPr>
        <p:spPr>
          <a:xfrm>
            <a:off x="1143000" y="2413000"/>
            <a:ext cx="1778000" cy="17780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6400" b="1">
                <a:solidFill>
                  <a:srgbClr val="FFFFFF"/>
                </a:solidFill>
              </a:rPr>
              <a:t>14</a:t>
            </a:r>
            <a:endParaRPr lang="ko-KR" altLang="en-US" sz="6400" b="1">
              <a:solidFill>
                <a:srgbClr val="FFFFFF"/>
              </a:solidFill>
            </a:endParaRPr>
          </a:p>
        </p:txBody>
      </p:sp>
      <p:sp>
        <p:nvSpPr>
          <p:cNvPr id="7" name="Info">
            <a:extLst>
              <a:ext uri="{FF2B5EF4-FFF2-40B4-BE49-F238E27FC236}">
                <a16:creationId xmlns:a16="http://schemas.microsoft.com/office/drawing/2014/main" id="{6EDBD9F3-9F09-B142-A671-9C3D2921111B}"/>
              </a:ext>
            </a:extLst>
          </p:cNvPr>
          <p:cNvSpPr txBox="1"/>
          <p:nvPr/>
        </p:nvSpPr>
        <p:spPr>
          <a:xfrm>
            <a:off x="3302000" y="2413000"/>
            <a:ext cx="7620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100" b="1" dirty="0">
                <a:solidFill>
                  <a:srgbClr val="7C5CFC"/>
                </a:solidFill>
              </a:rPr>
              <a:t>BOOTSTRAPMADE TEMPLATE</a:t>
            </a:r>
          </a:p>
          <a:p>
            <a:pPr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A1A2E"/>
                </a:solidFill>
              </a:rPr>
              <a:t>FlexStart</a:t>
            </a:r>
          </a:p>
          <a:p>
            <a:pPr>
              <a:spcBef>
                <a:spcPts val="200"/>
              </a:spcBef>
              <a:buNone/>
            </a:pPr>
            <a:r>
              <a:rPr lang="ko-KR" sz="1300" dirty="0">
                <a:solidFill>
                  <a:srgbClr val="4B5563"/>
                </a:solidFill>
              </a:rPr>
              <a:t>스타트업·SaaS 톤의 부트스트랩 5 템플릿</a:t>
            </a:r>
          </a:p>
          <a:p>
            <a:pPr>
              <a:spcBef>
                <a:spcPts val="400"/>
              </a:spcBef>
              <a:buNone/>
            </a:pPr>
            <a:r>
              <a:rPr lang="en-US" sz="1100" dirty="0">
                <a:solidFill>
                  <a:srgbClr val="4154F1"/>
                </a:solidFill>
              </a:rPr>
              <a:t>bootstrapmade.com/flexstart-bootstrap-startup-template/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021DA75-EEA6-6948-BC94-9995FEAF0C93}"/>
              </a:ext>
            </a:extLst>
          </p:cNvPr>
          <p:cNvSpPr/>
          <p:nvPr/>
        </p:nvSpPr>
        <p:spPr>
          <a:xfrm>
            <a:off x="762000" y="4826000"/>
            <a:ext cx="2540000" cy="10160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Chip0">
            <a:extLst>
              <a:ext uri="{FF2B5EF4-FFF2-40B4-BE49-F238E27FC236}">
                <a16:creationId xmlns:a16="http://schemas.microsoft.com/office/drawing/2014/main" id="{EEB6255B-98DB-F142-9D71-374FD8983E7B}"/>
              </a:ext>
            </a:extLst>
          </p:cNvPr>
          <p:cNvSpPr txBox="1"/>
          <p:nvPr/>
        </p:nvSpPr>
        <p:spPr>
          <a:xfrm>
            <a:off x="965200" y="4978400"/>
            <a:ext cx="2133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000" b="1" dirty="0">
                <a:solidFill>
                  <a:srgbClr val="64748B"/>
                </a:solidFill>
              </a:rPr>
              <a:t>베이스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Bootstrap 5.3.3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CEA1C42-08AE-6E4A-8DAB-4268D7C9C043}"/>
              </a:ext>
            </a:extLst>
          </p:cNvPr>
          <p:cNvSpPr/>
          <p:nvPr/>
        </p:nvSpPr>
        <p:spPr>
          <a:xfrm>
            <a:off x="3492500" y="4826000"/>
            <a:ext cx="2540000" cy="10160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Chip1">
            <a:extLst>
              <a:ext uri="{FF2B5EF4-FFF2-40B4-BE49-F238E27FC236}">
                <a16:creationId xmlns:a16="http://schemas.microsoft.com/office/drawing/2014/main" id="{5C99AE27-00A1-C84A-995B-5828E16820D1}"/>
              </a:ext>
            </a:extLst>
          </p:cNvPr>
          <p:cNvSpPr txBox="1"/>
          <p:nvPr/>
        </p:nvSpPr>
        <p:spPr>
          <a:xfrm>
            <a:off x="3695700" y="4978400"/>
            <a:ext cx="2133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000" b="1" dirty="0">
                <a:solidFill>
                  <a:srgbClr val="64748B"/>
                </a:solidFill>
              </a:rPr>
              <a:t>시그니처 컬러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#4154F1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121FB84-31E9-774A-8397-212679A35905}"/>
              </a:ext>
            </a:extLst>
          </p:cNvPr>
          <p:cNvSpPr/>
          <p:nvPr/>
        </p:nvSpPr>
        <p:spPr>
          <a:xfrm>
            <a:off x="6223000" y="4826000"/>
            <a:ext cx="2540000" cy="10160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Chip2">
            <a:extLst>
              <a:ext uri="{FF2B5EF4-FFF2-40B4-BE49-F238E27FC236}">
                <a16:creationId xmlns:a16="http://schemas.microsoft.com/office/drawing/2014/main" id="{B12E2829-C549-FF43-BB6F-CCFEE041F116}"/>
              </a:ext>
            </a:extLst>
          </p:cNvPr>
          <p:cNvSpPr txBox="1"/>
          <p:nvPr/>
        </p:nvSpPr>
        <p:spPr>
          <a:xfrm>
            <a:off x="6426200" y="4978400"/>
            <a:ext cx="2133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000" b="1" dirty="0">
                <a:solidFill>
                  <a:srgbClr val="64748B"/>
                </a:solidFill>
              </a:rPr>
              <a:t>포함 페이지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7종 (헤더~연락)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F65053C-F131-A144-BF76-FB5A06BE5A44}"/>
              </a:ext>
            </a:extLst>
          </p:cNvPr>
          <p:cNvSpPr/>
          <p:nvPr/>
        </p:nvSpPr>
        <p:spPr>
          <a:xfrm>
            <a:off x="8953500" y="4826000"/>
            <a:ext cx="2540000" cy="10160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Chip3">
            <a:extLst>
              <a:ext uri="{FF2B5EF4-FFF2-40B4-BE49-F238E27FC236}">
                <a16:creationId xmlns:a16="http://schemas.microsoft.com/office/drawing/2014/main" id="{1995C7EB-06CD-5A4B-911F-8E945FE50CBC}"/>
              </a:ext>
            </a:extLst>
          </p:cNvPr>
          <p:cNvSpPr txBox="1"/>
          <p:nvPr/>
        </p:nvSpPr>
        <p:spPr>
          <a:xfrm>
            <a:off x="9156700" y="4978400"/>
            <a:ext cx="2133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000" b="1" dirty="0">
                <a:solidFill>
                  <a:srgbClr val="64748B"/>
                </a:solidFill>
              </a:rPr>
              <a:t>라이선스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출처표기 무료</a:t>
            </a:r>
          </a:p>
        </p:txBody>
      </p:sp>
      <p:sp>
        <p:nvSpPr>
          <p:cNvPr id="16" name="Note">
            <a:extLst>
              <a:ext uri="{FF2B5EF4-FFF2-40B4-BE49-F238E27FC236}">
                <a16:creationId xmlns:a16="http://schemas.microsoft.com/office/drawing/2014/main" id="{AF61D6B5-70B7-3440-B132-FBCFE6758D94}"/>
              </a:ext>
            </a:extLst>
          </p:cNvPr>
          <p:cNvSpPr txBox="1"/>
          <p:nvPr/>
        </p:nvSpPr>
        <p:spPr>
          <a:xfrm>
            <a:off x="762000" y="6070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ko-KR" sz="1100" i="1" dirty="0">
                <a:solidFill>
                  <a:srgbClr val="64748B"/>
                </a:solidFill>
              </a:rPr>
              <a:t>※ 헤더·메뉴 구조 + 블루 컬러 톤만 참고하고, 나머지는 FinEdu 컨셉에 맞게 새로 작성할 계획.</a:t>
            </a:r>
          </a:p>
        </p:txBody>
      </p:sp>
    </p:spTree>
    <p:extLst>
      <p:ext uri="{BB962C8B-B14F-4D97-AF65-F5344CB8AC3E}">
        <p14:creationId xmlns:p14="http://schemas.microsoft.com/office/powerpoint/2010/main" val="91224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91EF74-73C8-1D49-8668-F819B7EE03F5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10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626D9-8E55-5A4C-BA93-59D360F50F1C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1A1A2E"/>
                </a:solidFill>
              </a:rPr>
              <a:t>템플릿 선택 이유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3796F1-B9FA-E242-9F0E-3F7C93C9B4F9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71AB637-78F8-9043-AA39-83C1166A6EFF}"/>
              </a:ext>
            </a:extLst>
          </p:cNvPr>
          <p:cNvSpPr/>
          <p:nvPr/>
        </p:nvSpPr>
        <p:spPr>
          <a:xfrm>
            <a:off x="762000" y="2032000"/>
            <a:ext cx="10668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677D78-CB25-0F40-8F11-65CF576A858C}"/>
              </a:ext>
            </a:extLst>
          </p:cNvPr>
          <p:cNvSpPr/>
          <p:nvPr/>
        </p:nvSpPr>
        <p:spPr>
          <a:xfrm>
            <a:off x="762000" y="2032000"/>
            <a:ext cx="762000" cy="7620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01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7" name="R0">
            <a:extLst>
              <a:ext uri="{FF2B5EF4-FFF2-40B4-BE49-F238E27FC236}">
                <a16:creationId xmlns:a16="http://schemas.microsoft.com/office/drawing/2014/main" id="{D760C83F-0033-F146-895F-B184F8B9F773}"/>
              </a:ext>
            </a:extLst>
          </p:cNvPr>
          <p:cNvSpPr txBox="1"/>
          <p:nvPr/>
        </p:nvSpPr>
        <p:spPr>
          <a:xfrm>
            <a:off x="1778000" y="2159000"/>
            <a:ext cx="939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헤더·내비게이션 구조가 깔끔  </a:t>
            </a:r>
            <a:r>
              <a:rPr lang="ko-KR" sz="1200" dirty="0">
                <a:solidFill>
                  <a:srgbClr val="4B5563"/>
                </a:solidFill>
              </a:rPr>
              <a:t>·  로고 + 메뉴 + CTA 패턴이 학습 사이트 구조에 맞음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89BDB3B-E2CA-5647-8BF0-00B151A0650E}"/>
              </a:ext>
            </a:extLst>
          </p:cNvPr>
          <p:cNvSpPr/>
          <p:nvPr/>
        </p:nvSpPr>
        <p:spPr>
          <a:xfrm>
            <a:off x="762000" y="2921000"/>
            <a:ext cx="10668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50F993-F5A9-C844-A745-33584B236FF2}"/>
              </a:ext>
            </a:extLst>
          </p:cNvPr>
          <p:cNvSpPr/>
          <p:nvPr/>
        </p:nvSpPr>
        <p:spPr>
          <a:xfrm>
            <a:off x="762000" y="2921000"/>
            <a:ext cx="762000" cy="762000"/>
          </a:xfrm>
          <a:prstGeom prst="rect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02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0" name="R1">
            <a:extLst>
              <a:ext uri="{FF2B5EF4-FFF2-40B4-BE49-F238E27FC236}">
                <a16:creationId xmlns:a16="http://schemas.microsoft.com/office/drawing/2014/main" id="{AC220708-AAD3-134A-A27D-EFF05ECB4F2D}"/>
              </a:ext>
            </a:extLst>
          </p:cNvPr>
          <p:cNvSpPr txBox="1"/>
          <p:nvPr/>
        </p:nvSpPr>
        <p:spPr>
          <a:xfrm>
            <a:off x="1778000" y="3048000"/>
            <a:ext cx="939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반응형 기본기  </a:t>
            </a:r>
            <a:r>
              <a:rPr lang="ko-KR" sz="1200" dirty="0">
                <a:solidFill>
                  <a:srgbClr val="4B5563"/>
                </a:solidFill>
              </a:rPr>
              <a:t>·  모바일 브레이크포인트가 자연스러워 모바일 학습 시나리오에 적합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8AF96D5-3AFA-A443-9ADF-3E4383C5FB0B}"/>
              </a:ext>
            </a:extLst>
          </p:cNvPr>
          <p:cNvSpPr/>
          <p:nvPr/>
        </p:nvSpPr>
        <p:spPr>
          <a:xfrm>
            <a:off x="762000" y="3810000"/>
            <a:ext cx="10668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6CA3BB-6A68-D34C-8675-53694CE4EA90}"/>
              </a:ext>
            </a:extLst>
          </p:cNvPr>
          <p:cNvSpPr/>
          <p:nvPr/>
        </p:nvSpPr>
        <p:spPr>
          <a:xfrm>
            <a:off x="762000" y="3810000"/>
            <a:ext cx="762000" cy="762000"/>
          </a:xfrm>
          <a:prstGeom prst="rect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03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3" name="R2">
            <a:extLst>
              <a:ext uri="{FF2B5EF4-FFF2-40B4-BE49-F238E27FC236}">
                <a16:creationId xmlns:a16="http://schemas.microsoft.com/office/drawing/2014/main" id="{15C58DCE-420D-094C-81E4-BB0D61D8C952}"/>
              </a:ext>
            </a:extLst>
          </p:cNvPr>
          <p:cNvSpPr txBox="1"/>
          <p:nvPr/>
        </p:nvSpPr>
        <p:spPr>
          <a:xfrm>
            <a:off x="1778000" y="3937000"/>
            <a:ext cx="939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모듈 분리가 명확  </a:t>
            </a:r>
            <a:r>
              <a:rPr lang="ko-KR" sz="1200" dirty="0">
                <a:solidFill>
                  <a:srgbClr val="4B5563"/>
                </a:solidFill>
              </a:rPr>
              <a:t>·  섹션 단위로 잘려 있어 일부만 가져다 쓰기 좋음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09099CE-6B62-3747-B796-FD3714DC203F}"/>
              </a:ext>
            </a:extLst>
          </p:cNvPr>
          <p:cNvSpPr/>
          <p:nvPr/>
        </p:nvSpPr>
        <p:spPr>
          <a:xfrm>
            <a:off x="762000" y="4699000"/>
            <a:ext cx="10668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CB58793-D0A6-464A-97F8-C5496B03A771}"/>
              </a:ext>
            </a:extLst>
          </p:cNvPr>
          <p:cNvSpPr/>
          <p:nvPr/>
        </p:nvSpPr>
        <p:spPr>
          <a:xfrm>
            <a:off x="762000" y="4699000"/>
            <a:ext cx="762000" cy="7620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04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6" name="R3">
            <a:extLst>
              <a:ext uri="{FF2B5EF4-FFF2-40B4-BE49-F238E27FC236}">
                <a16:creationId xmlns:a16="http://schemas.microsoft.com/office/drawing/2014/main" id="{F96C9CF4-9F56-4147-9307-8B8606390AC2}"/>
              </a:ext>
            </a:extLst>
          </p:cNvPr>
          <p:cNvSpPr txBox="1"/>
          <p:nvPr/>
        </p:nvSpPr>
        <p:spPr>
          <a:xfrm>
            <a:off x="1778000" y="4826000"/>
            <a:ext cx="939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저작권 부담 ↓  </a:t>
            </a:r>
            <a:r>
              <a:rPr lang="ko-KR" sz="1200" dirty="0">
                <a:solidFill>
                  <a:srgbClr val="4B5563"/>
                </a:solidFill>
              </a:rPr>
              <a:t>·  출처 표기만으로 자유 사용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40193DE-59A4-D544-916A-1E96F5A08929}"/>
              </a:ext>
            </a:extLst>
          </p:cNvPr>
          <p:cNvSpPr/>
          <p:nvPr/>
        </p:nvSpPr>
        <p:spPr>
          <a:xfrm>
            <a:off x="762000" y="5588000"/>
            <a:ext cx="10668000" cy="76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919638-4207-594E-A13E-D3059007AF0D}"/>
              </a:ext>
            </a:extLst>
          </p:cNvPr>
          <p:cNvSpPr/>
          <p:nvPr/>
        </p:nvSpPr>
        <p:spPr>
          <a:xfrm>
            <a:off x="762000" y="5588000"/>
            <a:ext cx="762000" cy="7620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</a:rPr>
              <a:t>05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9" name="R4">
            <a:extLst>
              <a:ext uri="{FF2B5EF4-FFF2-40B4-BE49-F238E27FC236}">
                <a16:creationId xmlns:a16="http://schemas.microsoft.com/office/drawing/2014/main" id="{9B152F52-7BDA-0C4D-BD9B-E6DB9E172471}"/>
              </a:ext>
            </a:extLst>
          </p:cNvPr>
          <p:cNvSpPr txBox="1"/>
          <p:nvPr/>
        </p:nvSpPr>
        <p:spPr>
          <a:xfrm>
            <a:off x="1778000" y="5715000"/>
            <a:ext cx="939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400" b="1" dirty="0">
                <a:solidFill>
                  <a:srgbClr val="1A1A2E"/>
                </a:solidFill>
              </a:rPr>
              <a:t>확장 가능성  </a:t>
            </a:r>
            <a:r>
              <a:rPr lang="ko-KR" sz="1200" dirty="0">
                <a:solidFill>
                  <a:srgbClr val="4B5563"/>
                </a:solidFill>
              </a:rPr>
              <a:t>·  컴포넌트 위에 커스텀 컬러·타이포만 얹어도 분위기 전환 용이</a:t>
            </a:r>
          </a:p>
        </p:txBody>
      </p:sp>
    </p:spTree>
    <p:extLst>
      <p:ext uri="{BB962C8B-B14F-4D97-AF65-F5344CB8AC3E}">
        <p14:creationId xmlns:p14="http://schemas.microsoft.com/office/powerpoint/2010/main" val="160689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DC1CBA-7EB6-3742-BE2B-A90ADEC7A9DB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11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B0DE5-B9C2-324C-9C10-25A0F0BAF1B7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1A1A2E"/>
                </a:solidFill>
              </a:rPr>
              <a:t>템플릿 활용 및 수정 계획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535406-C5BE-5E4E-AC29-55139697897A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1CA8F6E-C626-3D46-8336-BEFE7F0E2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157212"/>
              </p:ext>
            </p:extLst>
          </p:nvPr>
        </p:nvGraphicFramePr>
        <p:xfrm>
          <a:off x="762000" y="1930400"/>
          <a:ext cx="1066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423400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699003276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90804479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</a:rPr>
                        <a:t>영역</a:t>
                      </a:r>
                    </a:p>
                  </a:txBody>
                  <a:tcPr anchor="ctr">
                    <a:solidFill>
                      <a:srgbClr val="415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</a:rPr>
                        <a:t>FlexStart 템플릿</a:t>
                      </a:r>
                    </a:p>
                  </a:txBody>
                  <a:tcPr anchor="ctr">
                    <a:solidFill>
                      <a:srgbClr val="4154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300" b="1">
                          <a:solidFill>
                            <a:srgbClr val="FFFFFF"/>
                          </a:solidFill>
                        </a:rPr>
                        <a:t>FinEdu 에서</a:t>
                      </a:r>
                    </a:p>
                  </a:txBody>
                  <a:tcPr anchor="ctr">
                    <a:solidFill>
                      <a:srgbClr val="415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546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A1A2E"/>
                          </a:solidFill>
                        </a:rPr>
                        <a:t>헤더 구조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logo · nav · cta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마크업 유지, CSS 새로 + 알림 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6306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A1A2E"/>
                          </a:solidFill>
                        </a:rPr>
                        <a:t>컬러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시그니처 블루 #4154F1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그대로 차용 + 보조 (퍼플/옐로우/레드)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70921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A1A2E"/>
                          </a:solidFill>
                        </a:rPr>
                        <a:t>글꼴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Open Sans · Nunito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Pretendard Variable (한글 가독)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9425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A1A2E"/>
                          </a:solidFill>
                        </a:rPr>
                        <a:t>버튼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평면 Bootstrap 버튼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3D 푸시 버튼 (그림자 짓눌림)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19312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A1A2E"/>
                          </a:solidFill>
                        </a:rPr>
                        <a:t>Hero 일러스트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추상 SVG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자체 제작 — 대시보드 + 차트 + 코인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6021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A1A2E"/>
                          </a:solidFill>
                        </a:rPr>
                        <a:t>추가 컴포넌트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토스트 · 진행바 · 컨페티 · 알림 드롭다운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4718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A1A2E"/>
                          </a:solidFill>
                        </a:rPr>
                        <a:t>추가 페이지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학습공간 · 레슨 · 옷장 · 마켓 · 친구 · 리그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78075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>
                          <a:solidFill>
                            <a:srgbClr val="1A1A2E"/>
                          </a:solidFill>
                        </a:rPr>
                        <a:t>컴파일 도구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(없음 — 순수 정적)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0">
                          <a:solidFill>
                            <a:srgbClr val="4B5563"/>
                          </a:solidFill>
                        </a:rPr>
                        <a:t>동일 (Bootstrap 의존성 제거)</a:t>
                      </a:r>
                    </a:p>
                  </a:txBody>
                  <a:tcPr anchor="ctr">
                    <a:solidFill>
                      <a:srgbClr val="F4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79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257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145AD-D0BA-EF49-8845-2B6E38AC98B8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12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3B50E-D4AC-AE46-9894-75F94CD243FA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1A1A2E"/>
                </a:solidFill>
              </a:rPr>
              <a:t>제작할 웹페이지 목록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91EA7C-5947-A140-953B-DF72C44C2A20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8FA8392-5D9E-8449-9C72-678D0D2C346D}"/>
              </a:ext>
            </a:extLst>
          </p:cNvPr>
          <p:cNvSpPr/>
          <p:nvPr/>
        </p:nvSpPr>
        <p:spPr>
          <a:xfrm>
            <a:off x="762000" y="2032000"/>
            <a:ext cx="3429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9E804D-8E45-D844-948C-C8E2296D7AFB}"/>
              </a:ext>
            </a:extLst>
          </p:cNvPr>
          <p:cNvSpPr/>
          <p:nvPr/>
        </p:nvSpPr>
        <p:spPr>
          <a:xfrm>
            <a:off x="762000" y="2032000"/>
            <a:ext cx="3429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Pg0">
            <a:extLst>
              <a:ext uri="{FF2B5EF4-FFF2-40B4-BE49-F238E27FC236}">
                <a16:creationId xmlns:a16="http://schemas.microsoft.com/office/drawing/2014/main" id="{DD8F4A90-02FC-034C-95E9-2F847FC1D49C}"/>
              </a:ext>
            </a:extLst>
          </p:cNvPr>
          <p:cNvSpPr txBox="1"/>
          <p:nvPr/>
        </p:nvSpPr>
        <p:spPr>
          <a:xfrm>
            <a:off x="965200" y="2209800"/>
            <a:ext cx="3022600" cy="1054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900" b="1" dirty="0">
                <a:solidFill>
                  <a:srgbClr val="4154F1"/>
                </a:solidFill>
              </a:rPr>
              <a:t>/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메인</a:t>
            </a:r>
          </a:p>
          <a:p>
            <a:pPr>
              <a:spcBef>
                <a:spcPts val="200"/>
              </a:spcBef>
              <a:buNone/>
            </a:pPr>
            <a:r>
              <a:rPr lang="ko-KR" sz="1000" dirty="0">
                <a:solidFill>
                  <a:srgbClr val="64748B"/>
                </a:solidFill>
              </a:rPr>
              <a:t>Hero · Features · Stats · CTA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CBC5A9E1-3AE2-B149-8990-47AA4E70E95E}"/>
              </a:ext>
            </a:extLst>
          </p:cNvPr>
          <p:cNvSpPr/>
          <p:nvPr/>
        </p:nvSpPr>
        <p:spPr>
          <a:xfrm>
            <a:off x="4381500" y="2032000"/>
            <a:ext cx="3429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E697BF-65D9-C549-B744-7CF6F169A82D}"/>
              </a:ext>
            </a:extLst>
          </p:cNvPr>
          <p:cNvSpPr/>
          <p:nvPr/>
        </p:nvSpPr>
        <p:spPr>
          <a:xfrm>
            <a:off x="4381500" y="2032000"/>
            <a:ext cx="3429000" cy="50800"/>
          </a:xfrm>
          <a:prstGeom prst="rect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Pg1">
            <a:extLst>
              <a:ext uri="{FF2B5EF4-FFF2-40B4-BE49-F238E27FC236}">
                <a16:creationId xmlns:a16="http://schemas.microsoft.com/office/drawing/2014/main" id="{AF9FD8E6-6EC1-6E43-B950-06785BB56087}"/>
              </a:ext>
            </a:extLst>
          </p:cNvPr>
          <p:cNvSpPr txBox="1"/>
          <p:nvPr/>
        </p:nvSpPr>
        <p:spPr>
          <a:xfrm>
            <a:off x="4584700" y="2209800"/>
            <a:ext cx="3022600" cy="1054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900" b="1" dirty="0">
                <a:solidFill>
                  <a:srgbClr val="4154F1"/>
                </a:solidFill>
              </a:rPr>
              <a:t>/signup · /login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회원가입·로그인</a:t>
            </a:r>
          </a:p>
          <a:p>
            <a:pPr>
              <a:spcBef>
                <a:spcPts val="200"/>
              </a:spcBef>
              <a:buNone/>
            </a:pPr>
            <a:r>
              <a:rPr lang="ko-KR" sz="1000" dirty="0">
                <a:solidFill>
                  <a:srgbClr val="64748B"/>
                </a:solidFill>
              </a:rPr>
              <a:t>폼 + 캐릭터 일러스트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3C0D9DC-48A8-5849-B879-66881FC6EDC8}"/>
              </a:ext>
            </a:extLst>
          </p:cNvPr>
          <p:cNvSpPr/>
          <p:nvPr/>
        </p:nvSpPr>
        <p:spPr>
          <a:xfrm>
            <a:off x="8001000" y="2032000"/>
            <a:ext cx="3429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123E4A-070B-4749-A2FA-57EA8505E673}"/>
              </a:ext>
            </a:extLst>
          </p:cNvPr>
          <p:cNvSpPr/>
          <p:nvPr/>
        </p:nvSpPr>
        <p:spPr>
          <a:xfrm>
            <a:off x="8001000" y="2032000"/>
            <a:ext cx="3429000" cy="50800"/>
          </a:xfrm>
          <a:prstGeom prst="rect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Pg2">
            <a:extLst>
              <a:ext uri="{FF2B5EF4-FFF2-40B4-BE49-F238E27FC236}">
                <a16:creationId xmlns:a16="http://schemas.microsoft.com/office/drawing/2014/main" id="{408B4BC9-30AA-6E40-8CD1-75BAA6DC7750}"/>
              </a:ext>
            </a:extLst>
          </p:cNvPr>
          <p:cNvSpPr txBox="1"/>
          <p:nvPr/>
        </p:nvSpPr>
        <p:spPr>
          <a:xfrm>
            <a:off x="8204200" y="2209800"/>
            <a:ext cx="3022600" cy="1054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900" b="1" dirty="0">
                <a:solidFill>
                  <a:srgbClr val="4154F1"/>
                </a:solidFill>
              </a:rPr>
              <a:t>/learn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학습공간</a:t>
            </a:r>
          </a:p>
          <a:p>
            <a:pPr>
              <a:spcBef>
                <a:spcPts val="200"/>
              </a:spcBef>
              <a:buNone/>
            </a:pPr>
            <a:r>
              <a:rPr lang="ko-KR" sz="1000" dirty="0">
                <a:solidFill>
                  <a:srgbClr val="64748B"/>
                </a:solidFill>
              </a:rPr>
              <a:t>단원 카드 + 지그재그 노드 맵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11C2AD5A-64CF-AD4B-A349-30B4AD618B2F}"/>
              </a:ext>
            </a:extLst>
          </p:cNvPr>
          <p:cNvSpPr/>
          <p:nvPr/>
        </p:nvSpPr>
        <p:spPr>
          <a:xfrm>
            <a:off x="762000" y="3556000"/>
            <a:ext cx="3429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D4C038-B6E5-1C44-ACAF-3970D63E91A2}"/>
              </a:ext>
            </a:extLst>
          </p:cNvPr>
          <p:cNvSpPr/>
          <p:nvPr/>
        </p:nvSpPr>
        <p:spPr>
          <a:xfrm>
            <a:off x="762000" y="3556000"/>
            <a:ext cx="3429000" cy="508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Pg3">
            <a:extLst>
              <a:ext uri="{FF2B5EF4-FFF2-40B4-BE49-F238E27FC236}">
                <a16:creationId xmlns:a16="http://schemas.microsoft.com/office/drawing/2014/main" id="{289CA696-48DA-404D-AD73-748DBFA1FBEC}"/>
              </a:ext>
            </a:extLst>
          </p:cNvPr>
          <p:cNvSpPr txBox="1"/>
          <p:nvPr/>
        </p:nvSpPr>
        <p:spPr>
          <a:xfrm>
            <a:off x="965200" y="3733800"/>
            <a:ext cx="3022600" cy="1054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900" b="1" dirty="0">
                <a:solidFill>
                  <a:srgbClr val="4154F1"/>
                </a:solidFill>
              </a:rPr>
              <a:t>/lesson?id=N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레슨 풀이</a:t>
            </a:r>
          </a:p>
          <a:p>
            <a:pPr>
              <a:spcBef>
                <a:spcPts val="200"/>
              </a:spcBef>
              <a:buNone/>
            </a:pPr>
            <a:r>
              <a:rPr lang="ko-KR" sz="1000" dirty="0">
                <a:solidFill>
                  <a:srgbClr val="64748B"/>
                </a:solidFill>
              </a:rPr>
              <a:t>4지선다 · O·X · 빈칸 + 즉시 피드백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C5CAC6B-1E8B-EE4E-AFAE-81A583316D7B}"/>
              </a:ext>
            </a:extLst>
          </p:cNvPr>
          <p:cNvSpPr/>
          <p:nvPr/>
        </p:nvSpPr>
        <p:spPr>
          <a:xfrm>
            <a:off x="4381500" y="3556000"/>
            <a:ext cx="3429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13D309-5F55-1D4F-9A2E-A8D012E49E63}"/>
              </a:ext>
            </a:extLst>
          </p:cNvPr>
          <p:cNvSpPr/>
          <p:nvPr/>
        </p:nvSpPr>
        <p:spPr>
          <a:xfrm>
            <a:off x="4381500" y="3556000"/>
            <a:ext cx="3429000" cy="508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Pg4">
            <a:extLst>
              <a:ext uri="{FF2B5EF4-FFF2-40B4-BE49-F238E27FC236}">
                <a16:creationId xmlns:a16="http://schemas.microsoft.com/office/drawing/2014/main" id="{6CFB08BC-0B1C-514F-9C97-831695A08761}"/>
              </a:ext>
            </a:extLst>
          </p:cNvPr>
          <p:cNvSpPr txBox="1"/>
          <p:nvPr/>
        </p:nvSpPr>
        <p:spPr>
          <a:xfrm>
            <a:off x="4584700" y="3733800"/>
            <a:ext cx="3022600" cy="1054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900" b="1" dirty="0">
                <a:solidFill>
                  <a:srgbClr val="4154F1"/>
                </a:solidFill>
              </a:rPr>
              <a:t>/closet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옷장</a:t>
            </a:r>
          </a:p>
          <a:p>
            <a:pPr>
              <a:spcBef>
                <a:spcPts val="200"/>
              </a:spcBef>
              <a:buNone/>
            </a:pPr>
            <a:r>
              <a:rPr lang="ko-KR" sz="1000" dirty="0">
                <a:solidFill>
                  <a:srgbClr val="64748B"/>
                </a:solidFill>
              </a:rPr>
              <a:t>풀세트 · 엑세서리 커스터마이즈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F788401-4192-6240-9BFB-5CA537A7B1DC}"/>
              </a:ext>
            </a:extLst>
          </p:cNvPr>
          <p:cNvSpPr/>
          <p:nvPr/>
        </p:nvSpPr>
        <p:spPr>
          <a:xfrm>
            <a:off x="8001000" y="3556000"/>
            <a:ext cx="3429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A20003-7273-B649-A2CB-EB4F3BFE9FEF}"/>
              </a:ext>
            </a:extLst>
          </p:cNvPr>
          <p:cNvSpPr/>
          <p:nvPr/>
        </p:nvSpPr>
        <p:spPr>
          <a:xfrm>
            <a:off x="8001000" y="3556000"/>
            <a:ext cx="3429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Pg5">
            <a:extLst>
              <a:ext uri="{FF2B5EF4-FFF2-40B4-BE49-F238E27FC236}">
                <a16:creationId xmlns:a16="http://schemas.microsoft.com/office/drawing/2014/main" id="{4028417A-E519-E845-80CD-08398290CD3D}"/>
              </a:ext>
            </a:extLst>
          </p:cNvPr>
          <p:cNvSpPr txBox="1"/>
          <p:nvPr/>
        </p:nvSpPr>
        <p:spPr>
          <a:xfrm>
            <a:off x="8204200" y="3733800"/>
            <a:ext cx="3022600" cy="1054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900" b="1" dirty="0">
                <a:solidFill>
                  <a:srgbClr val="4154F1"/>
                </a:solidFill>
              </a:rPr>
              <a:t>/market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스킨 마켓</a:t>
            </a:r>
          </a:p>
          <a:p>
            <a:pPr>
              <a:spcBef>
                <a:spcPts val="200"/>
              </a:spcBef>
              <a:buNone/>
            </a:pPr>
            <a:r>
              <a:rPr lang="ko-KR" sz="1000" dirty="0">
                <a:solidFill>
                  <a:srgbClr val="64748B"/>
                </a:solidFill>
              </a:rPr>
              <a:t>코인으로 옷차림·엑세서리 구매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A25A59C8-03A7-DD4A-94A6-E03EC77F3B93}"/>
              </a:ext>
            </a:extLst>
          </p:cNvPr>
          <p:cNvSpPr/>
          <p:nvPr/>
        </p:nvSpPr>
        <p:spPr>
          <a:xfrm>
            <a:off x="762000" y="5080000"/>
            <a:ext cx="3429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DAF6D8E-2292-7B40-ABA9-7C72D17876A8}"/>
              </a:ext>
            </a:extLst>
          </p:cNvPr>
          <p:cNvSpPr/>
          <p:nvPr/>
        </p:nvSpPr>
        <p:spPr>
          <a:xfrm>
            <a:off x="762000" y="5080000"/>
            <a:ext cx="3429000" cy="50800"/>
          </a:xfrm>
          <a:prstGeom prst="rect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Pg6">
            <a:extLst>
              <a:ext uri="{FF2B5EF4-FFF2-40B4-BE49-F238E27FC236}">
                <a16:creationId xmlns:a16="http://schemas.microsoft.com/office/drawing/2014/main" id="{F484C931-2591-6249-86F3-708A6B8537EA}"/>
              </a:ext>
            </a:extLst>
          </p:cNvPr>
          <p:cNvSpPr txBox="1"/>
          <p:nvPr/>
        </p:nvSpPr>
        <p:spPr>
          <a:xfrm>
            <a:off x="965200" y="5257800"/>
            <a:ext cx="3022600" cy="1054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900" b="1" dirty="0">
                <a:solidFill>
                  <a:srgbClr val="4154F1"/>
                </a:solidFill>
              </a:rPr>
              <a:t>/friends · /friend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친구 · 프로필</a:t>
            </a:r>
          </a:p>
          <a:p>
            <a:pPr>
              <a:spcBef>
                <a:spcPts val="200"/>
              </a:spcBef>
              <a:buNone/>
            </a:pPr>
            <a:r>
              <a:rPr lang="ko-KR" sz="1000" dirty="0">
                <a:solidFill>
                  <a:srgbClr val="64748B"/>
                </a:solidFill>
              </a:rPr>
              <a:t>친구 시스템 + 큰 아바타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3369B7A-0878-CF43-B67C-521F473D1E9E}"/>
              </a:ext>
            </a:extLst>
          </p:cNvPr>
          <p:cNvSpPr/>
          <p:nvPr/>
        </p:nvSpPr>
        <p:spPr>
          <a:xfrm>
            <a:off x="4381500" y="5080000"/>
            <a:ext cx="3429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B8AB0C0-F3BE-2849-A35C-1FD217D2FF37}"/>
              </a:ext>
            </a:extLst>
          </p:cNvPr>
          <p:cNvSpPr/>
          <p:nvPr/>
        </p:nvSpPr>
        <p:spPr>
          <a:xfrm>
            <a:off x="4381500" y="5080000"/>
            <a:ext cx="3429000" cy="50800"/>
          </a:xfrm>
          <a:prstGeom prst="rect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Pg7">
            <a:extLst>
              <a:ext uri="{FF2B5EF4-FFF2-40B4-BE49-F238E27FC236}">
                <a16:creationId xmlns:a16="http://schemas.microsoft.com/office/drawing/2014/main" id="{BFB3F9E6-0B6A-304B-8C9C-893A9C20B12E}"/>
              </a:ext>
            </a:extLst>
          </p:cNvPr>
          <p:cNvSpPr txBox="1"/>
          <p:nvPr/>
        </p:nvSpPr>
        <p:spPr>
          <a:xfrm>
            <a:off x="4584700" y="5257800"/>
            <a:ext cx="3022600" cy="1054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900" b="1" dirty="0">
                <a:solidFill>
                  <a:srgbClr val="4154F1"/>
                </a:solidFill>
              </a:rPr>
              <a:t>/profile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내 대시보드</a:t>
            </a:r>
          </a:p>
          <a:p>
            <a:pPr>
              <a:spcBef>
                <a:spcPts val="200"/>
              </a:spcBef>
              <a:buNone/>
            </a:pPr>
            <a:r>
              <a:rPr lang="ko-KR" sz="1000" dirty="0">
                <a:solidFill>
                  <a:srgbClr val="64748B"/>
                </a:solidFill>
              </a:rPr>
              <a:t>통계 · 주간 XP · 최근 활동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A2ED5D7-BD18-3545-8A1A-C5BF0BB30755}"/>
              </a:ext>
            </a:extLst>
          </p:cNvPr>
          <p:cNvSpPr/>
          <p:nvPr/>
        </p:nvSpPr>
        <p:spPr>
          <a:xfrm>
            <a:off x="8001000" y="5080000"/>
            <a:ext cx="3429000" cy="1333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F8F8713-8294-A947-B4B3-3E26A378EC00}"/>
              </a:ext>
            </a:extLst>
          </p:cNvPr>
          <p:cNvSpPr/>
          <p:nvPr/>
        </p:nvSpPr>
        <p:spPr>
          <a:xfrm>
            <a:off x="8001000" y="5080000"/>
            <a:ext cx="3429000" cy="508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Pg8">
            <a:extLst>
              <a:ext uri="{FF2B5EF4-FFF2-40B4-BE49-F238E27FC236}">
                <a16:creationId xmlns:a16="http://schemas.microsoft.com/office/drawing/2014/main" id="{324E90A7-F47C-E042-AEC2-E1A73ADACEED}"/>
              </a:ext>
            </a:extLst>
          </p:cNvPr>
          <p:cNvSpPr txBox="1"/>
          <p:nvPr/>
        </p:nvSpPr>
        <p:spPr>
          <a:xfrm>
            <a:off x="8204200" y="5257800"/>
            <a:ext cx="3022600" cy="10541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900" b="1" dirty="0">
                <a:solidFill>
                  <a:srgbClr val="4154F1"/>
                </a:solidFill>
              </a:rPr>
              <a:t>/league</a:t>
            </a:r>
          </a:p>
          <a:p>
            <a:pPr>
              <a:spcBef>
                <a:spcPts val="200"/>
              </a:spcBef>
              <a:buNone/>
            </a:pPr>
            <a:r>
              <a:rPr lang="ko-KR" sz="1400" b="1" dirty="0">
                <a:solidFill>
                  <a:srgbClr val="1A1A2E"/>
                </a:solidFill>
              </a:rPr>
              <a:t>리그</a:t>
            </a:r>
          </a:p>
          <a:p>
            <a:pPr>
              <a:spcBef>
                <a:spcPts val="200"/>
              </a:spcBef>
              <a:buNone/>
            </a:pPr>
            <a:r>
              <a:rPr lang="ko-KR" sz="1000" dirty="0">
                <a:solidFill>
                  <a:srgbClr val="64748B"/>
                </a:solidFill>
              </a:rPr>
              <a:t>이번 주 + 명예의 전당 + 6단계</a:t>
            </a:r>
          </a:p>
        </p:txBody>
      </p:sp>
    </p:spTree>
    <p:extLst>
      <p:ext uri="{BB962C8B-B14F-4D97-AF65-F5344CB8AC3E}">
        <p14:creationId xmlns:p14="http://schemas.microsoft.com/office/powerpoint/2010/main" val="337798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3DDEC9-848B-6F4A-9F98-0C5C70891B9A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13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5E1799-E226-4244-A6AC-38B38C7E05BE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1A1A2E"/>
                </a:solidFill>
              </a:rPr>
              <a:t>페이지별 내용 구성 </a:t>
            </a:r>
            <a:r>
              <a:rPr lang="en-US" altLang="ko-KR" sz="3200" b="1">
                <a:solidFill>
                  <a:srgbClr val="1A1A2E"/>
                </a:solidFill>
              </a:rPr>
              <a:t>(</a:t>
            </a:r>
            <a:r>
              <a:rPr lang="ko-KR" altLang="en-US" sz="3200" b="1">
                <a:solidFill>
                  <a:srgbClr val="1A1A2E"/>
                </a:solidFill>
              </a:rPr>
              <a:t>요약</a:t>
            </a:r>
            <a:r>
              <a:rPr lang="en-US" altLang="ko-KR" sz="3200" b="1">
                <a:solidFill>
                  <a:srgbClr val="1A1A2E"/>
                </a:solidFill>
              </a:rPr>
              <a:t>)</a:t>
            </a:r>
            <a:endParaRPr lang="ko-KR" altLang="en-US" sz="3200" b="1">
              <a:solidFill>
                <a:srgbClr val="1A1A2E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179AEF-1A89-E144-A48A-333BBE54DB25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AA053E2-7DB4-3244-A7F1-1724DC5B955A}"/>
              </a:ext>
            </a:extLst>
          </p:cNvPr>
          <p:cNvSpPr/>
          <p:nvPr/>
        </p:nvSpPr>
        <p:spPr>
          <a:xfrm>
            <a:off x="762000" y="1905000"/>
            <a:ext cx="5080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ADA42E-C9D5-F640-93EF-35B5330FE40D}"/>
              </a:ext>
            </a:extLst>
          </p:cNvPr>
          <p:cNvSpPr/>
          <p:nvPr/>
        </p:nvSpPr>
        <p:spPr>
          <a:xfrm>
            <a:off x="762000" y="1905000"/>
            <a:ext cx="50800" cy="9906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It0">
            <a:extLst>
              <a:ext uri="{FF2B5EF4-FFF2-40B4-BE49-F238E27FC236}">
                <a16:creationId xmlns:a16="http://schemas.microsoft.com/office/drawing/2014/main" id="{1486CF2A-1CB5-1149-9201-BBB3226D9370}"/>
              </a:ext>
            </a:extLst>
          </p:cNvPr>
          <p:cNvSpPr txBox="1"/>
          <p:nvPr/>
        </p:nvSpPr>
        <p:spPr>
          <a:xfrm>
            <a:off x="990600" y="2032000"/>
            <a:ext cx="4749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메인  </a:t>
            </a:r>
            <a:r>
              <a:rPr lang="en-US" sz="900" dirty="0">
                <a:solidFill>
                  <a:srgbClr val="4154F1"/>
                </a:solidFill>
              </a:rPr>
              <a:t>/</a:t>
            </a:r>
          </a:p>
          <a:p>
            <a:pPr>
              <a:spcBef>
                <a:spcPts val="3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Hero 일러스트 · Features 3카드 · 3단계 How · 4통계 카운트업 · Final CTA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2A47704-19F3-CB4E-9DEA-93D427427E47}"/>
              </a:ext>
            </a:extLst>
          </p:cNvPr>
          <p:cNvSpPr/>
          <p:nvPr/>
        </p:nvSpPr>
        <p:spPr>
          <a:xfrm>
            <a:off x="6096000" y="1905000"/>
            <a:ext cx="5080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448990-FAD7-3744-90D5-647C7221547D}"/>
              </a:ext>
            </a:extLst>
          </p:cNvPr>
          <p:cNvSpPr/>
          <p:nvPr/>
        </p:nvSpPr>
        <p:spPr>
          <a:xfrm>
            <a:off x="6096000" y="1905000"/>
            <a:ext cx="50800" cy="9906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It1">
            <a:extLst>
              <a:ext uri="{FF2B5EF4-FFF2-40B4-BE49-F238E27FC236}">
                <a16:creationId xmlns:a16="http://schemas.microsoft.com/office/drawing/2014/main" id="{6A3699F3-71DD-0245-87F6-6EEB0584BC8D}"/>
              </a:ext>
            </a:extLst>
          </p:cNvPr>
          <p:cNvSpPr txBox="1"/>
          <p:nvPr/>
        </p:nvSpPr>
        <p:spPr>
          <a:xfrm>
            <a:off x="6324600" y="2032000"/>
            <a:ext cx="4749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회원가입·로그인  </a:t>
            </a:r>
            <a:r>
              <a:rPr lang="en-US" sz="900" dirty="0">
                <a:solidFill>
                  <a:srgbClr val="4154F1"/>
                </a:solidFill>
              </a:rPr>
              <a:t>/signup · /login</a:t>
            </a:r>
          </a:p>
          <a:p>
            <a:pPr>
              <a:spcBef>
                <a:spcPts val="3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좌측 폼 + 우측 캐릭터 · inline 에러 · 비밀번호 표시 토글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3811B41-5530-DB4C-BB0D-4734657D5E4C}"/>
              </a:ext>
            </a:extLst>
          </p:cNvPr>
          <p:cNvSpPr/>
          <p:nvPr/>
        </p:nvSpPr>
        <p:spPr>
          <a:xfrm>
            <a:off x="762000" y="3048000"/>
            <a:ext cx="5080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1F25DA-563C-AD4F-A565-8EDE3CC08BD0}"/>
              </a:ext>
            </a:extLst>
          </p:cNvPr>
          <p:cNvSpPr/>
          <p:nvPr/>
        </p:nvSpPr>
        <p:spPr>
          <a:xfrm>
            <a:off x="762000" y="3048000"/>
            <a:ext cx="50800" cy="9906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It2">
            <a:extLst>
              <a:ext uri="{FF2B5EF4-FFF2-40B4-BE49-F238E27FC236}">
                <a16:creationId xmlns:a16="http://schemas.microsoft.com/office/drawing/2014/main" id="{387A6A42-11DB-9F44-81D5-6C67DCC143EE}"/>
              </a:ext>
            </a:extLst>
          </p:cNvPr>
          <p:cNvSpPr txBox="1"/>
          <p:nvPr/>
        </p:nvSpPr>
        <p:spPr>
          <a:xfrm>
            <a:off x="990600" y="3175000"/>
            <a:ext cx="4749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학습공간  </a:t>
            </a:r>
            <a:r>
              <a:rPr lang="en-US" sz="900" dirty="0">
                <a:solidFill>
                  <a:srgbClr val="4154F1"/>
                </a:solidFill>
              </a:rPr>
              <a:t>/learn</a:t>
            </a:r>
          </a:p>
          <a:p>
            <a:pPr>
              <a:spcBef>
                <a:spcPts val="3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XP·스트릭·코인 칩 + 단원 카드 + 지그재그 노드 (가능/완료/잠금)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C5211A3-7229-CE4E-A8DC-F19A56B20A16}"/>
              </a:ext>
            </a:extLst>
          </p:cNvPr>
          <p:cNvSpPr/>
          <p:nvPr/>
        </p:nvSpPr>
        <p:spPr>
          <a:xfrm>
            <a:off x="6096000" y="3048000"/>
            <a:ext cx="5080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3AD836A-24FC-6A47-B54C-249A8A45BB84}"/>
              </a:ext>
            </a:extLst>
          </p:cNvPr>
          <p:cNvSpPr/>
          <p:nvPr/>
        </p:nvSpPr>
        <p:spPr>
          <a:xfrm>
            <a:off x="6096000" y="3048000"/>
            <a:ext cx="50800" cy="9906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It3">
            <a:extLst>
              <a:ext uri="{FF2B5EF4-FFF2-40B4-BE49-F238E27FC236}">
                <a16:creationId xmlns:a16="http://schemas.microsoft.com/office/drawing/2014/main" id="{29EF42A9-D1B9-3B40-A3C9-2799AA17B3D0}"/>
              </a:ext>
            </a:extLst>
          </p:cNvPr>
          <p:cNvSpPr txBox="1"/>
          <p:nvPr/>
        </p:nvSpPr>
        <p:spPr>
          <a:xfrm>
            <a:off x="6324600" y="3175000"/>
            <a:ext cx="4749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레슨 풀이  </a:t>
            </a:r>
            <a:r>
              <a:rPr lang="en-US" sz="900" dirty="0">
                <a:solidFill>
                  <a:srgbClr val="4154F1"/>
                </a:solidFill>
              </a:rPr>
              <a:t>/lesson?id=N</a:t>
            </a:r>
          </a:p>
          <a:p>
            <a:pPr>
              <a:spcBef>
                <a:spcPts val="3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진행바 · 4지선다/O·X/빈칸 · 슬라이드업 해설 + 컨페티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B5E0192-049F-E44A-A07D-3FAB46F36B85}"/>
              </a:ext>
            </a:extLst>
          </p:cNvPr>
          <p:cNvSpPr/>
          <p:nvPr/>
        </p:nvSpPr>
        <p:spPr>
          <a:xfrm>
            <a:off x="762000" y="4191000"/>
            <a:ext cx="5080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61E4E1-A985-CB4D-AE70-55DD76E912C7}"/>
              </a:ext>
            </a:extLst>
          </p:cNvPr>
          <p:cNvSpPr/>
          <p:nvPr/>
        </p:nvSpPr>
        <p:spPr>
          <a:xfrm>
            <a:off x="762000" y="4191000"/>
            <a:ext cx="50800" cy="9906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It4">
            <a:extLst>
              <a:ext uri="{FF2B5EF4-FFF2-40B4-BE49-F238E27FC236}">
                <a16:creationId xmlns:a16="http://schemas.microsoft.com/office/drawing/2014/main" id="{AE6DB5B7-FDC1-014C-8CA1-4E6783C0F6D3}"/>
              </a:ext>
            </a:extLst>
          </p:cNvPr>
          <p:cNvSpPr txBox="1"/>
          <p:nvPr/>
        </p:nvSpPr>
        <p:spPr>
          <a:xfrm>
            <a:off x="990600" y="4318000"/>
            <a:ext cx="4749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옷장  </a:t>
            </a:r>
            <a:r>
              <a:rPr lang="en-US" sz="900" dirty="0">
                <a:solidFill>
                  <a:srgbClr val="4154F1"/>
                </a:solidFill>
              </a:rPr>
              <a:t>/closet</a:t>
            </a:r>
          </a:p>
          <a:p>
            <a:pPr>
              <a:spcBef>
                <a:spcPts val="3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sticky 큰 아바타 · 슬롯 탭 · 잠긴 아이템 뱃지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3B69327-FA27-B844-9FB8-7DE6A7F43F40}"/>
              </a:ext>
            </a:extLst>
          </p:cNvPr>
          <p:cNvSpPr/>
          <p:nvPr/>
        </p:nvSpPr>
        <p:spPr>
          <a:xfrm>
            <a:off x="6096000" y="4191000"/>
            <a:ext cx="5080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AC4AFA2-4DD0-674E-95AC-DA447505D680}"/>
              </a:ext>
            </a:extLst>
          </p:cNvPr>
          <p:cNvSpPr/>
          <p:nvPr/>
        </p:nvSpPr>
        <p:spPr>
          <a:xfrm>
            <a:off x="6096000" y="4191000"/>
            <a:ext cx="50800" cy="9906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It5">
            <a:extLst>
              <a:ext uri="{FF2B5EF4-FFF2-40B4-BE49-F238E27FC236}">
                <a16:creationId xmlns:a16="http://schemas.microsoft.com/office/drawing/2014/main" id="{40E3FFE9-70C6-F54A-A221-9CBE229C02C8}"/>
              </a:ext>
            </a:extLst>
          </p:cNvPr>
          <p:cNvSpPr txBox="1"/>
          <p:nvPr/>
        </p:nvSpPr>
        <p:spPr>
          <a:xfrm>
            <a:off x="6324600" y="4318000"/>
            <a:ext cx="4749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스킨 마켓  </a:t>
            </a:r>
            <a:r>
              <a:rPr lang="en-US" sz="900" dirty="0">
                <a:solidFill>
                  <a:srgbClr val="4154F1"/>
                </a:solidFill>
              </a:rPr>
              <a:t>/market</a:t>
            </a:r>
          </a:p>
          <a:p>
            <a:pPr>
              <a:spcBef>
                <a:spcPts val="3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슬롯 탭 필터 · 미니 미리보기 + 가격 + rarity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DB0CCA59-A16F-B34F-83E2-79B163A6CF5D}"/>
              </a:ext>
            </a:extLst>
          </p:cNvPr>
          <p:cNvSpPr/>
          <p:nvPr/>
        </p:nvSpPr>
        <p:spPr>
          <a:xfrm>
            <a:off x="762000" y="5334000"/>
            <a:ext cx="5080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1B03248-F64D-C54C-82D0-31943EE80B40}"/>
              </a:ext>
            </a:extLst>
          </p:cNvPr>
          <p:cNvSpPr/>
          <p:nvPr/>
        </p:nvSpPr>
        <p:spPr>
          <a:xfrm>
            <a:off x="762000" y="5334000"/>
            <a:ext cx="50800" cy="9906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It6">
            <a:extLst>
              <a:ext uri="{FF2B5EF4-FFF2-40B4-BE49-F238E27FC236}">
                <a16:creationId xmlns:a16="http://schemas.microsoft.com/office/drawing/2014/main" id="{47AB8E23-AD92-604D-A2C9-276A8359A023}"/>
              </a:ext>
            </a:extLst>
          </p:cNvPr>
          <p:cNvSpPr txBox="1"/>
          <p:nvPr/>
        </p:nvSpPr>
        <p:spPr>
          <a:xfrm>
            <a:off x="990600" y="5461000"/>
            <a:ext cx="4749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친구 · 프로필  </a:t>
            </a:r>
            <a:r>
              <a:rPr lang="en-US" sz="900" dirty="0">
                <a:solidFill>
                  <a:srgbClr val="4154F1"/>
                </a:solidFill>
              </a:rPr>
              <a:t>/friends · /profile</a:t>
            </a:r>
          </a:p>
          <a:p>
            <a:pPr>
              <a:spcBef>
                <a:spcPts val="3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탭(친구/받은/보낸) · 통계 6종 · 주간 XP 바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CCF4C84A-C253-1149-A696-574F58722671}"/>
              </a:ext>
            </a:extLst>
          </p:cNvPr>
          <p:cNvSpPr/>
          <p:nvPr/>
        </p:nvSpPr>
        <p:spPr>
          <a:xfrm>
            <a:off x="6096000" y="5334000"/>
            <a:ext cx="50800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C50A2EA-460D-A44D-980D-6468DED5DF4F}"/>
              </a:ext>
            </a:extLst>
          </p:cNvPr>
          <p:cNvSpPr/>
          <p:nvPr/>
        </p:nvSpPr>
        <p:spPr>
          <a:xfrm>
            <a:off x="6096000" y="5334000"/>
            <a:ext cx="50800" cy="9906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It7">
            <a:extLst>
              <a:ext uri="{FF2B5EF4-FFF2-40B4-BE49-F238E27FC236}">
                <a16:creationId xmlns:a16="http://schemas.microsoft.com/office/drawing/2014/main" id="{C69E437D-846A-8340-BABE-ADDC99F25122}"/>
              </a:ext>
            </a:extLst>
          </p:cNvPr>
          <p:cNvSpPr txBox="1"/>
          <p:nvPr/>
        </p:nvSpPr>
        <p:spPr>
          <a:xfrm>
            <a:off x="6324600" y="5461000"/>
            <a:ext cx="4749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리그  </a:t>
            </a:r>
            <a:r>
              <a:rPr lang="en-US" sz="900" dirty="0">
                <a:solidFill>
                  <a:srgbClr val="4154F1"/>
                </a:solidFill>
              </a:rPr>
              <a:t>/league</a:t>
            </a:r>
          </a:p>
          <a:p>
            <a:pPr>
              <a:spcBef>
                <a:spcPts val="3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티어 카드 · 이번 주/명예의 전당 · 1·2·3위 금·은·동</a:t>
            </a:r>
          </a:p>
        </p:txBody>
      </p:sp>
    </p:spTree>
    <p:extLst>
      <p:ext uri="{BB962C8B-B14F-4D97-AF65-F5344CB8AC3E}">
        <p14:creationId xmlns:p14="http://schemas.microsoft.com/office/powerpoint/2010/main" val="1974796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19850-2B33-314B-B8B0-E16CB7E7882A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14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DCFE0-6DED-E349-AE75-FF9266C4A08E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1A1A2E"/>
                </a:solidFill>
              </a:rPr>
              <a:t>메인 페이지 와이어프레임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2294BF-F65D-564D-9583-7824916B5856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4F7B72D-84AA-6A41-817F-9146C3D37A21}"/>
              </a:ext>
            </a:extLst>
          </p:cNvPr>
          <p:cNvSpPr/>
          <p:nvPr/>
        </p:nvSpPr>
        <p:spPr>
          <a:xfrm>
            <a:off x="762000" y="1968500"/>
            <a:ext cx="6858000" cy="444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6730CD-65D3-D24E-80BE-2E4AA58B5121}"/>
              </a:ext>
            </a:extLst>
          </p:cNvPr>
          <p:cNvSpPr/>
          <p:nvPr/>
        </p:nvSpPr>
        <p:spPr>
          <a:xfrm>
            <a:off x="762000" y="1968500"/>
            <a:ext cx="6858000" cy="3048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3075D13-C8AD-A743-B13F-F778E1D128C1}"/>
              </a:ext>
            </a:extLst>
          </p:cNvPr>
          <p:cNvSpPr/>
          <p:nvPr/>
        </p:nvSpPr>
        <p:spPr>
          <a:xfrm>
            <a:off x="889000" y="2070100"/>
            <a:ext cx="101600" cy="101600"/>
          </a:xfrm>
          <a:prstGeom prst="ellipse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800D458-FBFE-1846-B580-E568714979C4}"/>
              </a:ext>
            </a:extLst>
          </p:cNvPr>
          <p:cNvSpPr/>
          <p:nvPr/>
        </p:nvSpPr>
        <p:spPr>
          <a:xfrm>
            <a:off x="1066800" y="2070100"/>
            <a:ext cx="101600" cy="101600"/>
          </a:xfrm>
          <a:prstGeom prst="ellipse">
            <a:avLst/>
          </a:prstGeom>
          <a:solidFill>
            <a:srgbClr val="FBBF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B042E08-57B7-054E-9953-2EA1098E700C}"/>
              </a:ext>
            </a:extLst>
          </p:cNvPr>
          <p:cNvSpPr/>
          <p:nvPr/>
        </p:nvSpPr>
        <p:spPr>
          <a:xfrm>
            <a:off x="1244600" y="2070100"/>
            <a:ext cx="101600" cy="1016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AFDDFF-7E8F-9349-AF8D-A35C88259953}"/>
              </a:ext>
            </a:extLst>
          </p:cNvPr>
          <p:cNvSpPr/>
          <p:nvPr/>
        </p:nvSpPr>
        <p:spPr>
          <a:xfrm>
            <a:off x="762000" y="2273300"/>
            <a:ext cx="6858000" cy="406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B0AB23-502E-074A-AFCB-C0C0CADBD294}"/>
              </a:ext>
            </a:extLst>
          </p:cNvPr>
          <p:cNvSpPr txBox="1"/>
          <p:nvPr/>
        </p:nvSpPr>
        <p:spPr>
          <a:xfrm>
            <a:off x="952500" y="23495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b="1">
                <a:solidFill>
                  <a:srgbClr val="4154F1"/>
                </a:solidFill>
              </a:rPr>
              <a:t>FinEdu</a:t>
            </a:r>
            <a:endParaRPr lang="ko-KR" altLang="en-US" sz="1200" b="1">
              <a:solidFill>
                <a:srgbClr val="4154F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E50C72-3820-D743-9CAB-D494988FFAEC}"/>
              </a:ext>
            </a:extLst>
          </p:cNvPr>
          <p:cNvSpPr txBox="1"/>
          <p:nvPr/>
        </p:nvSpPr>
        <p:spPr>
          <a:xfrm>
            <a:off x="3302000" y="2349500"/>
            <a:ext cx="406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64748B"/>
                </a:solidFill>
              </a:rPr>
              <a:t>홈  학습  소개  진행 방식      🔔  </a:t>
            </a:r>
            <a:r>
              <a:rPr lang="en-US" altLang="ko-KR" sz="900">
                <a:solidFill>
                  <a:srgbClr val="64748B"/>
                </a:solidFill>
              </a:rPr>
              <a:t>[</a:t>
            </a:r>
            <a:r>
              <a:rPr lang="ko-KR" altLang="en-US" sz="900">
                <a:solidFill>
                  <a:srgbClr val="64748B"/>
                </a:solidFill>
              </a:rPr>
              <a:t>로그인</a:t>
            </a:r>
            <a:r>
              <a:rPr lang="en-US" altLang="ko-KR" sz="900">
                <a:solidFill>
                  <a:srgbClr val="64748B"/>
                </a:solidFill>
              </a:rPr>
              <a:t>]</a:t>
            </a:r>
            <a:endParaRPr lang="ko-KR" altLang="en-US" sz="900">
              <a:solidFill>
                <a:srgbClr val="64748B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74220-E5C9-254E-9B9D-E06338279432}"/>
              </a:ext>
            </a:extLst>
          </p:cNvPr>
          <p:cNvSpPr/>
          <p:nvPr/>
        </p:nvSpPr>
        <p:spPr>
          <a:xfrm>
            <a:off x="762000" y="2679700"/>
            <a:ext cx="6858000" cy="2540000"/>
          </a:xfrm>
          <a:prstGeom prst="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2678C-AD38-F549-AF66-EC5D2F4C0D7D}"/>
              </a:ext>
            </a:extLst>
          </p:cNvPr>
          <p:cNvSpPr txBox="1"/>
          <p:nvPr/>
        </p:nvSpPr>
        <p:spPr>
          <a:xfrm>
            <a:off x="1016000" y="2933700"/>
            <a:ext cx="304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800" b="1">
                <a:solidFill>
                  <a:srgbClr val="4154F1"/>
                </a:solidFill>
              </a:rPr>
              <a:t>★ 한국어로 배우는 주식</a:t>
            </a:r>
            <a:r>
              <a:rPr lang="en-US" altLang="ko-KR" sz="800" b="1">
                <a:solidFill>
                  <a:srgbClr val="4154F1"/>
                </a:solidFill>
              </a:rPr>
              <a:t>·</a:t>
            </a:r>
            <a:r>
              <a:rPr lang="ko-KR" altLang="en-US" sz="800" b="1">
                <a:solidFill>
                  <a:srgbClr val="4154F1"/>
                </a:solidFill>
              </a:rPr>
              <a:t>자산 학습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7DEEF-DF5E-0043-B422-71DA45A37684}"/>
              </a:ext>
            </a:extLst>
          </p:cNvPr>
          <p:cNvSpPr txBox="1"/>
          <p:nvPr/>
        </p:nvSpPr>
        <p:spPr>
          <a:xfrm>
            <a:off x="1016000" y="3187700"/>
            <a:ext cx="3556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1A1A2E"/>
                </a:solidFill>
              </a:rPr>
              <a:t>주식</a:t>
            </a:r>
            <a:r>
              <a:rPr lang="en-US" altLang="ko-KR" sz="2200" b="1">
                <a:solidFill>
                  <a:srgbClr val="1A1A2E"/>
                </a:solidFill>
              </a:rPr>
              <a:t>, </a:t>
            </a:r>
            <a:r>
              <a:rPr lang="ko-KR" altLang="en-US" sz="2200" b="1">
                <a:solidFill>
                  <a:srgbClr val="1A1A2E"/>
                </a:solidFill>
              </a:rPr>
              <a:t>게임처럼 배워요</a:t>
            </a:r>
            <a:r>
              <a:rPr lang="en-US" altLang="ko-KR" sz="2200" b="1">
                <a:solidFill>
                  <a:srgbClr val="1A1A2E"/>
                </a:solidFill>
              </a:rPr>
              <a:t>.</a:t>
            </a:r>
            <a:endParaRPr lang="ko-KR" altLang="en-US" sz="2200" b="1">
              <a:solidFill>
                <a:srgbClr val="1A1A2E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0DD1E5-F474-0F4C-9FD0-D71053FD0F86}"/>
              </a:ext>
            </a:extLst>
          </p:cNvPr>
          <p:cNvSpPr txBox="1"/>
          <p:nvPr/>
        </p:nvSpPr>
        <p:spPr>
          <a:xfrm>
            <a:off x="1016000" y="37211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64748B"/>
                </a:solidFill>
              </a:rPr>
              <a:t>하루 </a:t>
            </a:r>
            <a:r>
              <a:rPr lang="en-US" altLang="ko-KR" sz="900">
                <a:solidFill>
                  <a:srgbClr val="64748B"/>
                </a:solidFill>
              </a:rPr>
              <a:t>5</a:t>
            </a:r>
            <a:r>
              <a:rPr lang="ko-KR" altLang="en-US" sz="900">
                <a:solidFill>
                  <a:srgbClr val="64748B"/>
                </a:solidFill>
              </a:rPr>
              <a:t>분</a:t>
            </a:r>
            <a:r>
              <a:rPr lang="en-US" altLang="ko-KR" sz="900">
                <a:solidFill>
                  <a:srgbClr val="64748B"/>
                </a:solidFill>
              </a:rPr>
              <a:t>, </a:t>
            </a:r>
            <a:r>
              <a:rPr lang="ko-KR" altLang="en-US" sz="900">
                <a:solidFill>
                  <a:srgbClr val="64748B"/>
                </a:solidFill>
              </a:rPr>
              <a:t>친구처럼 알려주는 주식</a:t>
            </a:r>
            <a:r>
              <a:rPr lang="en-US" altLang="ko-KR" sz="900">
                <a:solidFill>
                  <a:srgbClr val="64748B"/>
                </a:solidFill>
              </a:rPr>
              <a:t>·</a:t>
            </a:r>
            <a:r>
              <a:rPr lang="ko-KR" altLang="en-US" sz="900">
                <a:solidFill>
                  <a:srgbClr val="64748B"/>
                </a:solidFill>
              </a:rPr>
              <a:t>자산 학습</a:t>
            </a:r>
            <a:r>
              <a:rPr lang="en-US" altLang="ko-KR" sz="900">
                <a:solidFill>
                  <a:srgbClr val="64748B"/>
                </a:solidFill>
              </a:rPr>
              <a:t>.</a:t>
            </a:r>
            <a:endParaRPr lang="ko-KR" altLang="en-US" sz="900">
              <a:solidFill>
                <a:srgbClr val="64748B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2FF4283-0A5E-CD45-9F24-6EB16260459A}"/>
              </a:ext>
            </a:extLst>
          </p:cNvPr>
          <p:cNvSpPr/>
          <p:nvPr/>
        </p:nvSpPr>
        <p:spPr>
          <a:xfrm>
            <a:off x="1016000" y="4254500"/>
            <a:ext cx="1270000" cy="3302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FFFFFF"/>
                </a:solidFill>
              </a:rPr>
              <a:t>무료로 시작 →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20CB28BD-9600-3345-AA93-271E7D90927E}"/>
              </a:ext>
            </a:extLst>
          </p:cNvPr>
          <p:cNvSpPr/>
          <p:nvPr/>
        </p:nvSpPr>
        <p:spPr>
          <a:xfrm>
            <a:off x="2387600" y="4254500"/>
            <a:ext cx="1143000" cy="330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4154F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4154F1"/>
                </a:solidFill>
              </a:rPr>
              <a:t>둘러보기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3DD7080-E689-E943-BE20-4BB30D274EBC}"/>
              </a:ext>
            </a:extLst>
          </p:cNvPr>
          <p:cNvSpPr/>
          <p:nvPr/>
        </p:nvSpPr>
        <p:spPr>
          <a:xfrm>
            <a:off x="4826000" y="2984500"/>
            <a:ext cx="2540000" cy="1778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AEAF5F5-07CC-E041-883E-2F66FBD11F80}"/>
              </a:ext>
            </a:extLst>
          </p:cNvPr>
          <p:cNvSpPr/>
          <p:nvPr/>
        </p:nvSpPr>
        <p:spPr>
          <a:xfrm>
            <a:off x="5080000" y="4000500"/>
            <a:ext cx="228600" cy="5080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ABFA461-8688-2947-84FA-B67E15D7B31D}"/>
              </a:ext>
            </a:extLst>
          </p:cNvPr>
          <p:cNvSpPr/>
          <p:nvPr/>
        </p:nvSpPr>
        <p:spPr>
          <a:xfrm>
            <a:off x="5435600" y="3746500"/>
            <a:ext cx="228600" cy="762000"/>
          </a:xfrm>
          <a:prstGeom prst="rect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2218BF-112A-AA44-8980-1CFBFDEDEDB7}"/>
              </a:ext>
            </a:extLst>
          </p:cNvPr>
          <p:cNvSpPr/>
          <p:nvPr/>
        </p:nvSpPr>
        <p:spPr>
          <a:xfrm>
            <a:off x="5791200" y="4064000"/>
            <a:ext cx="228600" cy="444500"/>
          </a:xfrm>
          <a:prstGeom prst="rect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FE27810-A2DA-584C-8001-79816AA29BBC}"/>
              </a:ext>
            </a:extLst>
          </p:cNvPr>
          <p:cNvSpPr/>
          <p:nvPr/>
        </p:nvSpPr>
        <p:spPr>
          <a:xfrm>
            <a:off x="6146800" y="3556000"/>
            <a:ext cx="228600" cy="9525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CBC4D6F7-5EFB-3348-8410-001D5C434C12}"/>
              </a:ext>
            </a:extLst>
          </p:cNvPr>
          <p:cNvSpPr/>
          <p:nvPr/>
        </p:nvSpPr>
        <p:spPr>
          <a:xfrm>
            <a:off x="6731000" y="3238500"/>
            <a:ext cx="635000" cy="228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0B9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800" b="1">
                <a:solidFill>
                  <a:srgbClr val="10B981"/>
                </a:solidFill>
              </a:rPr>
              <a:t>+24.6%</a:t>
            </a:r>
            <a:endParaRPr lang="ko-KR" altLang="en-US" sz="800" b="1">
              <a:solidFill>
                <a:srgbClr val="10B98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21B4DD1-E8CA-FA4F-9394-105D094C62EF}"/>
              </a:ext>
            </a:extLst>
          </p:cNvPr>
          <p:cNvSpPr/>
          <p:nvPr/>
        </p:nvSpPr>
        <p:spPr>
          <a:xfrm>
            <a:off x="4699000" y="2857500"/>
            <a:ext cx="330200" cy="330200"/>
          </a:xfrm>
          <a:prstGeom prst="ellipse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300" b="1">
                <a:solidFill>
                  <a:srgbClr val="FFFFFF"/>
                </a:solidFill>
              </a:rPr>
              <a:t>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FA140D8-4C2C-D641-B476-718D6BE870B4}"/>
              </a:ext>
            </a:extLst>
          </p:cNvPr>
          <p:cNvSpPr/>
          <p:nvPr/>
        </p:nvSpPr>
        <p:spPr>
          <a:xfrm>
            <a:off x="762000" y="5219700"/>
            <a:ext cx="6858000" cy="508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A0924D-5CB8-884D-8601-FC7D23810E05}"/>
              </a:ext>
            </a:extLst>
          </p:cNvPr>
          <p:cNvSpPr txBox="1"/>
          <p:nvPr/>
        </p:nvSpPr>
        <p:spPr>
          <a:xfrm>
            <a:off x="889000" y="53467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4154F1"/>
                </a:solidFill>
              </a:rPr>
              <a:t>5,231</a:t>
            </a:r>
            <a:r>
              <a:rPr lang="ko-KR" altLang="en-US" sz="1000" b="1">
                <a:solidFill>
                  <a:srgbClr val="4154F1"/>
                </a:solidFill>
              </a:rPr>
              <a:t>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59099-E90B-1045-9A11-4DCB244EDBA0}"/>
              </a:ext>
            </a:extLst>
          </p:cNvPr>
          <p:cNvSpPr txBox="1"/>
          <p:nvPr/>
        </p:nvSpPr>
        <p:spPr>
          <a:xfrm>
            <a:off x="2540000" y="53467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4154F1"/>
                </a:solidFill>
              </a:rPr>
              <a:t>18,420</a:t>
            </a:r>
            <a:r>
              <a:rPr lang="ko-KR" altLang="en-US" sz="1000" b="1">
                <a:solidFill>
                  <a:srgbClr val="4154F1"/>
                </a:solidFill>
              </a:rPr>
              <a:t>시간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F10D38-8D5E-7B46-9157-A71ED921DBA0}"/>
              </a:ext>
            </a:extLst>
          </p:cNvPr>
          <p:cNvSpPr txBox="1"/>
          <p:nvPr/>
        </p:nvSpPr>
        <p:spPr>
          <a:xfrm>
            <a:off x="4191000" y="53467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4154F1"/>
                </a:solidFill>
              </a:rPr>
              <a:t>87%</a:t>
            </a:r>
            <a:endParaRPr lang="ko-KR" altLang="en-US" sz="1000" b="1">
              <a:solidFill>
                <a:srgbClr val="4154F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A1103A-E774-C847-AED8-C773404E64A6}"/>
              </a:ext>
            </a:extLst>
          </p:cNvPr>
          <p:cNvSpPr txBox="1"/>
          <p:nvPr/>
        </p:nvSpPr>
        <p:spPr>
          <a:xfrm>
            <a:off x="5842000" y="5346700"/>
            <a:ext cx="152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4154F1"/>
                </a:solidFill>
              </a:rPr>
              <a:t>96</a:t>
            </a:r>
            <a:r>
              <a:rPr lang="ko-KR" altLang="en-US" sz="1000" b="1">
                <a:solidFill>
                  <a:srgbClr val="4154F1"/>
                </a:solidFill>
              </a:rPr>
              <a:t>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CCEFDD1-E3E4-F046-803F-E40EA429057E}"/>
              </a:ext>
            </a:extLst>
          </p:cNvPr>
          <p:cNvSpPr/>
          <p:nvPr/>
        </p:nvSpPr>
        <p:spPr>
          <a:xfrm>
            <a:off x="762000" y="5727700"/>
            <a:ext cx="6858000" cy="685800"/>
          </a:xfrm>
          <a:prstGeom prst="rect">
            <a:avLst/>
          </a:prstGeom>
          <a:solidFill>
            <a:srgbClr val="1A1A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DA436B-1749-2C4B-9E10-2D88EDFD6AFD}"/>
              </a:ext>
            </a:extLst>
          </p:cNvPr>
          <p:cNvSpPr txBox="1"/>
          <p:nvPr/>
        </p:nvSpPr>
        <p:spPr>
          <a:xfrm>
            <a:off x="952500" y="5969000"/>
            <a:ext cx="647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900">
                <a:solidFill>
                  <a:srgbClr val="94A3B8"/>
                </a:solidFill>
              </a:rPr>
              <a:t>FinEdu  ·  © 2026  ·  </a:t>
            </a:r>
            <a:r>
              <a:rPr lang="ko-KR" altLang="en-US" sz="900">
                <a:solidFill>
                  <a:srgbClr val="94A3B8"/>
                </a:solidFill>
              </a:rPr>
              <a:t>템플릿 </a:t>
            </a:r>
            <a:r>
              <a:rPr lang="en-US" altLang="ko-KR" sz="900">
                <a:solidFill>
                  <a:srgbClr val="94A3B8"/>
                </a:solidFill>
              </a:rPr>
              <a:t>14</a:t>
            </a:r>
            <a:r>
              <a:rPr lang="ko-KR" altLang="en-US" sz="900">
                <a:solidFill>
                  <a:srgbClr val="94A3B8"/>
                </a:solidFill>
              </a:rPr>
              <a:t>번</a:t>
            </a:r>
            <a:r>
              <a:rPr lang="en-US" altLang="ko-KR" sz="900">
                <a:solidFill>
                  <a:srgbClr val="94A3B8"/>
                </a:solidFill>
              </a:rPr>
              <a:t>(FlexStart) </a:t>
            </a:r>
            <a:r>
              <a:rPr lang="ko-KR" altLang="en-US" sz="900">
                <a:solidFill>
                  <a:srgbClr val="94A3B8"/>
                </a:solidFill>
              </a:rPr>
              <a:t>출처 표기</a:t>
            </a: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C6E21546-92AF-AC4B-8778-43A4F2BCF11E}"/>
              </a:ext>
            </a:extLst>
          </p:cNvPr>
          <p:cNvSpPr/>
          <p:nvPr/>
        </p:nvSpPr>
        <p:spPr>
          <a:xfrm>
            <a:off x="7874000" y="1968500"/>
            <a:ext cx="3556000" cy="736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813736E-23EB-2847-AED5-7882CF67B926}"/>
              </a:ext>
            </a:extLst>
          </p:cNvPr>
          <p:cNvSpPr/>
          <p:nvPr/>
        </p:nvSpPr>
        <p:spPr>
          <a:xfrm>
            <a:off x="8026400" y="2146300"/>
            <a:ext cx="381000" cy="381000"/>
          </a:xfrm>
          <a:prstGeom prst="ellipse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1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35" name="Sec0">
            <a:extLst>
              <a:ext uri="{FF2B5EF4-FFF2-40B4-BE49-F238E27FC236}">
                <a16:creationId xmlns:a16="http://schemas.microsoft.com/office/drawing/2014/main" id="{3F6702DD-12DA-BD42-A4F1-C820EDE2E311}"/>
              </a:ext>
            </a:extLst>
          </p:cNvPr>
          <p:cNvSpPr txBox="1"/>
          <p:nvPr/>
        </p:nvSpPr>
        <p:spPr>
          <a:xfrm>
            <a:off x="8559800" y="2095500"/>
            <a:ext cx="2768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200" b="1" dirty="0">
                <a:solidFill>
                  <a:srgbClr val="1A1A2E"/>
                </a:solidFill>
              </a:rPr>
              <a:t>헤더 / 내비게이션</a:t>
            </a:r>
          </a:p>
          <a:p>
            <a:pPr>
              <a:spcBef>
                <a:spcPts val="100"/>
              </a:spcBef>
              <a:buNone/>
            </a:pPr>
            <a:r>
              <a:rPr lang="ko-KR" sz="900" dirty="0">
                <a:solidFill>
                  <a:srgbClr val="64748B"/>
                </a:solidFill>
              </a:rPr>
              <a:t>로고 · 메뉴 · 알림 · 로그인 CTA</a:t>
            </a: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D0583E91-D137-E341-AF30-C7854A2498CE}"/>
              </a:ext>
            </a:extLst>
          </p:cNvPr>
          <p:cNvSpPr/>
          <p:nvPr/>
        </p:nvSpPr>
        <p:spPr>
          <a:xfrm>
            <a:off x="7874000" y="2857500"/>
            <a:ext cx="3556000" cy="736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752A304-F3CB-9845-943A-B53830DFBCFA}"/>
              </a:ext>
            </a:extLst>
          </p:cNvPr>
          <p:cNvSpPr/>
          <p:nvPr/>
        </p:nvSpPr>
        <p:spPr>
          <a:xfrm>
            <a:off x="8026400" y="3035300"/>
            <a:ext cx="381000" cy="381000"/>
          </a:xfrm>
          <a:prstGeom prst="ellipse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2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38" name="Sec1">
            <a:extLst>
              <a:ext uri="{FF2B5EF4-FFF2-40B4-BE49-F238E27FC236}">
                <a16:creationId xmlns:a16="http://schemas.microsoft.com/office/drawing/2014/main" id="{050E6458-3E9D-4247-8890-98AC78882330}"/>
              </a:ext>
            </a:extLst>
          </p:cNvPr>
          <p:cNvSpPr txBox="1"/>
          <p:nvPr/>
        </p:nvSpPr>
        <p:spPr>
          <a:xfrm>
            <a:off x="8559800" y="2984500"/>
            <a:ext cx="2768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200" b="1" dirty="0">
                <a:solidFill>
                  <a:srgbClr val="1A1A2E"/>
                </a:solidFill>
              </a:rPr>
              <a:t>Hero</a:t>
            </a:r>
          </a:p>
          <a:p>
            <a:pPr>
              <a:spcBef>
                <a:spcPts val="100"/>
              </a:spcBef>
              <a:buNone/>
            </a:pPr>
            <a:r>
              <a:rPr lang="ko-KR" sz="900" dirty="0">
                <a:solidFill>
                  <a:srgbClr val="64748B"/>
                </a:solidFill>
              </a:rPr>
              <a:t>타이틀 + 서브 + CTA 2개 + 일러스트</a:t>
            </a: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37015187-FBB5-FB48-8BE6-59E0DE508F52}"/>
              </a:ext>
            </a:extLst>
          </p:cNvPr>
          <p:cNvSpPr/>
          <p:nvPr/>
        </p:nvSpPr>
        <p:spPr>
          <a:xfrm>
            <a:off x="7874000" y="3746500"/>
            <a:ext cx="3556000" cy="736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5F9B17D5-65DD-CB46-8B05-4B136C739629}"/>
              </a:ext>
            </a:extLst>
          </p:cNvPr>
          <p:cNvSpPr/>
          <p:nvPr/>
        </p:nvSpPr>
        <p:spPr>
          <a:xfrm>
            <a:off x="8026400" y="3924300"/>
            <a:ext cx="381000" cy="381000"/>
          </a:xfrm>
          <a:prstGeom prst="ellipse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3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41" name="Sec2">
            <a:extLst>
              <a:ext uri="{FF2B5EF4-FFF2-40B4-BE49-F238E27FC236}">
                <a16:creationId xmlns:a16="http://schemas.microsoft.com/office/drawing/2014/main" id="{79152E66-D4E3-D44D-808D-AD4A5DCCF3A5}"/>
              </a:ext>
            </a:extLst>
          </p:cNvPr>
          <p:cNvSpPr txBox="1"/>
          <p:nvPr/>
        </p:nvSpPr>
        <p:spPr>
          <a:xfrm>
            <a:off x="8559800" y="3873500"/>
            <a:ext cx="2768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200" b="1" dirty="0">
                <a:solidFill>
                  <a:srgbClr val="1A1A2E"/>
                </a:solidFill>
              </a:rPr>
              <a:t>Features 3카드</a:t>
            </a:r>
          </a:p>
          <a:p>
            <a:pPr>
              <a:spcBef>
                <a:spcPts val="100"/>
              </a:spcBef>
              <a:buNone/>
            </a:pPr>
            <a:r>
              <a:rPr lang="ko-KR" sz="900" dirty="0">
                <a:solidFill>
                  <a:srgbClr val="64748B"/>
                </a:solidFill>
              </a:rPr>
              <a:t>짧고 굵게 / 매일 습관 / 진짜 게임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5AE06A94-A232-BA46-8E7E-234EBDFE555A}"/>
              </a:ext>
            </a:extLst>
          </p:cNvPr>
          <p:cNvSpPr/>
          <p:nvPr/>
        </p:nvSpPr>
        <p:spPr>
          <a:xfrm>
            <a:off x="7874000" y="4635500"/>
            <a:ext cx="3556000" cy="736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0C44476-A4A8-B64D-A2AC-4794AAB989C6}"/>
              </a:ext>
            </a:extLst>
          </p:cNvPr>
          <p:cNvSpPr/>
          <p:nvPr/>
        </p:nvSpPr>
        <p:spPr>
          <a:xfrm>
            <a:off x="8026400" y="4813300"/>
            <a:ext cx="381000" cy="3810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4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44" name="Sec3">
            <a:extLst>
              <a:ext uri="{FF2B5EF4-FFF2-40B4-BE49-F238E27FC236}">
                <a16:creationId xmlns:a16="http://schemas.microsoft.com/office/drawing/2014/main" id="{D177A2F8-C100-1247-98AF-4678069A5267}"/>
              </a:ext>
            </a:extLst>
          </p:cNvPr>
          <p:cNvSpPr txBox="1"/>
          <p:nvPr/>
        </p:nvSpPr>
        <p:spPr>
          <a:xfrm>
            <a:off x="8559800" y="4762500"/>
            <a:ext cx="2768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200" b="1" dirty="0">
                <a:solidFill>
                  <a:srgbClr val="1A1A2E"/>
                </a:solidFill>
              </a:rPr>
              <a:t>Stats 카운트업</a:t>
            </a:r>
          </a:p>
          <a:p>
            <a:pPr>
              <a:spcBef>
                <a:spcPts val="100"/>
              </a:spcBef>
              <a:buNone/>
            </a:pPr>
            <a:r>
              <a:rPr lang="ko-KR" sz="900" dirty="0">
                <a:solidFill>
                  <a:srgbClr val="64748B"/>
                </a:solidFill>
              </a:rPr>
              <a:t>5,231 · 18,420 · 87 · 96 (사회적 증거)</a:t>
            </a:r>
          </a:p>
        </p:txBody>
      </p:sp>
      <p:sp>
        <p:nvSpPr>
          <p:cNvPr id="45" name="모서리가 둥근 직사각형 44">
            <a:extLst>
              <a:ext uri="{FF2B5EF4-FFF2-40B4-BE49-F238E27FC236}">
                <a16:creationId xmlns:a16="http://schemas.microsoft.com/office/drawing/2014/main" id="{D518DAB8-7D7D-1A48-A3F2-2DF1ED5E9A81}"/>
              </a:ext>
            </a:extLst>
          </p:cNvPr>
          <p:cNvSpPr/>
          <p:nvPr/>
        </p:nvSpPr>
        <p:spPr>
          <a:xfrm>
            <a:off x="7874000" y="5524500"/>
            <a:ext cx="3556000" cy="736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B56365A-5427-ED43-9DA4-D6A986D447F6}"/>
              </a:ext>
            </a:extLst>
          </p:cNvPr>
          <p:cNvSpPr/>
          <p:nvPr/>
        </p:nvSpPr>
        <p:spPr>
          <a:xfrm>
            <a:off x="8026400" y="5702300"/>
            <a:ext cx="381000" cy="381000"/>
          </a:xfrm>
          <a:prstGeom prst="ellipse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300" b="1">
                <a:solidFill>
                  <a:srgbClr val="FFFFFF"/>
                </a:solidFill>
              </a:rPr>
              <a:t>5</a:t>
            </a:r>
            <a:endParaRPr lang="ko-KR" altLang="en-US" sz="1300" b="1">
              <a:solidFill>
                <a:srgbClr val="FFFFFF"/>
              </a:solidFill>
            </a:endParaRPr>
          </a:p>
        </p:txBody>
      </p:sp>
      <p:sp>
        <p:nvSpPr>
          <p:cNvPr id="47" name="Sec4">
            <a:extLst>
              <a:ext uri="{FF2B5EF4-FFF2-40B4-BE49-F238E27FC236}">
                <a16:creationId xmlns:a16="http://schemas.microsoft.com/office/drawing/2014/main" id="{8EAAC605-BC95-9348-9C93-28C622DE3051}"/>
              </a:ext>
            </a:extLst>
          </p:cNvPr>
          <p:cNvSpPr txBox="1"/>
          <p:nvPr/>
        </p:nvSpPr>
        <p:spPr>
          <a:xfrm>
            <a:off x="8559800" y="5651500"/>
            <a:ext cx="2768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200" b="1" dirty="0">
                <a:solidFill>
                  <a:srgbClr val="1A1A2E"/>
                </a:solidFill>
              </a:rPr>
              <a:t>Final CTA + Footer</a:t>
            </a:r>
          </a:p>
          <a:p>
            <a:pPr>
              <a:spcBef>
                <a:spcPts val="100"/>
              </a:spcBef>
              <a:buNone/>
            </a:pPr>
            <a:r>
              <a:rPr lang="ko-KR" sz="900" dirty="0">
                <a:solidFill>
                  <a:srgbClr val="64748B"/>
                </a:solidFill>
              </a:rPr>
              <a:t>블루 그라데이션 박스 + 출처 표기</a:t>
            </a:r>
          </a:p>
        </p:txBody>
      </p:sp>
    </p:spTree>
    <p:extLst>
      <p:ext uri="{BB962C8B-B14F-4D97-AF65-F5344CB8AC3E}">
        <p14:creationId xmlns:p14="http://schemas.microsoft.com/office/powerpoint/2010/main" val="1680885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E80D12-9BB9-AE4D-99A0-E15432FC206A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15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1B52F-4BC7-664C-BCC7-28A513EA5885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200" b="1">
                <a:solidFill>
                  <a:srgbClr val="1A1A2E"/>
                </a:solidFill>
              </a:rPr>
              <a:t>주요 서브 페이지 와이어프레임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BABEBF-B0DD-4A4D-9F03-AEE0279C2102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3A0ED89-14B4-D846-B3A8-3AF77723D4EA}"/>
              </a:ext>
            </a:extLst>
          </p:cNvPr>
          <p:cNvSpPr/>
          <p:nvPr/>
        </p:nvSpPr>
        <p:spPr>
          <a:xfrm>
            <a:off x="762000" y="1905000"/>
            <a:ext cx="3302000" cy="3556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</a:rPr>
              <a:t>/closet (</a:t>
            </a:r>
            <a:r>
              <a:rPr lang="ko-KR" altLang="en-US" sz="1200" b="1">
                <a:solidFill>
                  <a:srgbClr val="FFFFFF"/>
                </a:solidFill>
              </a:rPr>
              <a:t>옷장</a:t>
            </a:r>
            <a:r>
              <a:rPr lang="en-US" altLang="ko-KR" sz="1200" b="1">
                <a:solidFill>
                  <a:srgbClr val="FFFFFF"/>
                </a:solidFill>
              </a:rPr>
              <a:t>)</a:t>
            </a:r>
            <a:endParaRPr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D77CBC09-F324-E14F-BF15-195B1E90E4F9}"/>
              </a:ext>
            </a:extLst>
          </p:cNvPr>
          <p:cNvSpPr/>
          <p:nvPr/>
        </p:nvSpPr>
        <p:spPr>
          <a:xfrm>
            <a:off x="762000" y="2336800"/>
            <a:ext cx="3302000" cy="3251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5C1EC0F-BA15-9143-B1DE-D1A7316A6993}"/>
              </a:ext>
            </a:extLst>
          </p:cNvPr>
          <p:cNvSpPr/>
          <p:nvPr/>
        </p:nvSpPr>
        <p:spPr>
          <a:xfrm>
            <a:off x="4445000" y="1905000"/>
            <a:ext cx="3302000" cy="355600"/>
          </a:xfrm>
          <a:prstGeom prst="roundRect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</a:rPr>
              <a:t>/league (</a:t>
            </a:r>
            <a:r>
              <a:rPr lang="ko-KR" altLang="en-US" sz="1200" b="1">
                <a:solidFill>
                  <a:srgbClr val="FFFFFF"/>
                </a:solidFill>
              </a:rPr>
              <a:t>리그</a:t>
            </a:r>
            <a:r>
              <a:rPr lang="en-US" altLang="ko-KR" sz="1200" b="1">
                <a:solidFill>
                  <a:srgbClr val="FFFFFF"/>
                </a:solidFill>
              </a:rPr>
              <a:t>)</a:t>
            </a:r>
            <a:endParaRPr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23E64FD3-BE04-1B41-825F-7148BBEC23BF}"/>
              </a:ext>
            </a:extLst>
          </p:cNvPr>
          <p:cNvSpPr/>
          <p:nvPr/>
        </p:nvSpPr>
        <p:spPr>
          <a:xfrm>
            <a:off x="4445000" y="2336800"/>
            <a:ext cx="3302000" cy="3251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BF8D946B-3829-9442-88AA-F89D35A2B4CD}"/>
              </a:ext>
            </a:extLst>
          </p:cNvPr>
          <p:cNvSpPr/>
          <p:nvPr/>
        </p:nvSpPr>
        <p:spPr>
          <a:xfrm>
            <a:off x="8128000" y="1905000"/>
            <a:ext cx="3302000" cy="355600"/>
          </a:xfrm>
          <a:prstGeom prst="roundRect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FFFFFF"/>
                </a:solidFill>
              </a:rPr>
              <a:t>/lesson (</a:t>
            </a:r>
            <a:r>
              <a:rPr lang="ko-KR" altLang="en-US" sz="1200" b="1">
                <a:solidFill>
                  <a:srgbClr val="FFFFFF"/>
                </a:solidFill>
              </a:rPr>
              <a:t>풀이</a:t>
            </a:r>
            <a:r>
              <a:rPr lang="en-US" altLang="ko-KR" sz="1200" b="1">
                <a:solidFill>
                  <a:srgbClr val="FFFFFF"/>
                </a:solidFill>
              </a:rPr>
              <a:t>)</a:t>
            </a:r>
            <a:endParaRPr lang="ko-KR" altLang="en-US" sz="1200" b="1">
              <a:solidFill>
                <a:srgbClr val="FFFFFF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936A10E-70A4-EE48-AA4F-A4A0DA188974}"/>
              </a:ext>
            </a:extLst>
          </p:cNvPr>
          <p:cNvSpPr/>
          <p:nvPr/>
        </p:nvSpPr>
        <p:spPr>
          <a:xfrm>
            <a:off x="8128000" y="2336800"/>
            <a:ext cx="3302000" cy="32512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ABDA852-09F1-8948-B462-AD01A2750750}"/>
              </a:ext>
            </a:extLst>
          </p:cNvPr>
          <p:cNvSpPr/>
          <p:nvPr/>
        </p:nvSpPr>
        <p:spPr>
          <a:xfrm>
            <a:off x="889000" y="2400300"/>
            <a:ext cx="1143000" cy="19050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8F0296B-847E-D74B-AEEB-A5EFAF6864B7}"/>
              </a:ext>
            </a:extLst>
          </p:cNvPr>
          <p:cNvSpPr/>
          <p:nvPr/>
        </p:nvSpPr>
        <p:spPr>
          <a:xfrm>
            <a:off x="1206500" y="2616200"/>
            <a:ext cx="508000" cy="508000"/>
          </a:xfrm>
          <a:prstGeom prst="ellipse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D878D94-B2E7-9940-B80E-5D8585E4E240}"/>
              </a:ext>
            </a:extLst>
          </p:cNvPr>
          <p:cNvSpPr/>
          <p:nvPr/>
        </p:nvSpPr>
        <p:spPr>
          <a:xfrm>
            <a:off x="1143000" y="3149600"/>
            <a:ext cx="635000" cy="698500"/>
          </a:xfrm>
          <a:prstGeom prst="roundRect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5E700C82-36F2-3649-B115-B7E83BDBFA40}"/>
              </a:ext>
            </a:extLst>
          </p:cNvPr>
          <p:cNvSpPr/>
          <p:nvPr/>
        </p:nvSpPr>
        <p:spPr>
          <a:xfrm>
            <a:off x="2159000" y="2438400"/>
            <a:ext cx="825500" cy="2286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800" b="1">
                <a:solidFill>
                  <a:srgbClr val="FFFFFF"/>
                </a:solidFill>
              </a:rPr>
              <a:t>옷차림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40649B3E-3644-A049-8D0B-4C3422DB31A3}"/>
              </a:ext>
            </a:extLst>
          </p:cNvPr>
          <p:cNvSpPr/>
          <p:nvPr/>
        </p:nvSpPr>
        <p:spPr>
          <a:xfrm>
            <a:off x="3048000" y="2438400"/>
            <a:ext cx="825500" cy="228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800">
                <a:solidFill>
                  <a:srgbClr val="64748B"/>
                </a:solidFill>
              </a:rPr>
              <a:t>엑세서리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FC02A45-2F6B-374F-90F3-34C3E8C0B4BC}"/>
              </a:ext>
            </a:extLst>
          </p:cNvPr>
          <p:cNvSpPr/>
          <p:nvPr/>
        </p:nvSpPr>
        <p:spPr>
          <a:xfrm>
            <a:off x="2159000" y="2743200"/>
            <a:ext cx="508000" cy="508000"/>
          </a:xfrm>
          <a:prstGeom prst="roundRect">
            <a:avLst/>
          </a:prstGeom>
          <a:solidFill>
            <a:srgbClr val="DBEAFE"/>
          </a:solidFill>
          <a:ln w="12700" cap="flat" cmpd="sng" algn="ctr">
            <a:solidFill>
              <a:srgbClr val="4154F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10F6D10-8628-A840-A0F0-5B178FF71152}"/>
              </a:ext>
            </a:extLst>
          </p:cNvPr>
          <p:cNvSpPr/>
          <p:nvPr/>
        </p:nvSpPr>
        <p:spPr>
          <a:xfrm>
            <a:off x="2755900" y="2743200"/>
            <a:ext cx="508000" cy="508000"/>
          </a:xfrm>
          <a:prstGeom prst="roundRect">
            <a:avLst/>
          </a:prstGeom>
          <a:solidFill>
            <a:srgbClr val="EDE9FE"/>
          </a:solidFill>
          <a:ln w="12700" cap="flat" cmpd="sng" algn="ctr">
            <a:solidFill>
              <a:srgbClr val="7C5CF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0DDAC9BE-5418-F34C-96F5-1707692CB869}"/>
              </a:ext>
            </a:extLst>
          </p:cNvPr>
          <p:cNvSpPr/>
          <p:nvPr/>
        </p:nvSpPr>
        <p:spPr>
          <a:xfrm>
            <a:off x="3352800" y="2743200"/>
            <a:ext cx="508000" cy="508000"/>
          </a:xfrm>
          <a:prstGeom prst="roundRect">
            <a:avLst/>
          </a:prstGeom>
          <a:solidFill>
            <a:srgbClr val="FEF3C7"/>
          </a:solidFill>
          <a:ln w="12700" cap="flat" cmpd="sng" algn="ctr">
            <a:solidFill>
              <a:srgbClr val="FFB4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C3BF846-5422-4D4C-99AA-061B9FABB4F4}"/>
              </a:ext>
            </a:extLst>
          </p:cNvPr>
          <p:cNvSpPr/>
          <p:nvPr/>
        </p:nvSpPr>
        <p:spPr>
          <a:xfrm>
            <a:off x="2159000" y="3340100"/>
            <a:ext cx="508000" cy="508000"/>
          </a:xfrm>
          <a:prstGeom prst="roundRect">
            <a:avLst/>
          </a:prstGeom>
          <a:solidFill>
            <a:srgbClr val="D1FAE5"/>
          </a:solidFill>
          <a:ln w="12700" cap="flat" cmpd="sng" algn="ctr">
            <a:solidFill>
              <a:srgbClr val="10B9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562D18D-E17B-594A-9D0C-02BE7CB15FDF}"/>
              </a:ext>
            </a:extLst>
          </p:cNvPr>
          <p:cNvSpPr/>
          <p:nvPr/>
        </p:nvSpPr>
        <p:spPr>
          <a:xfrm>
            <a:off x="2755900" y="3340100"/>
            <a:ext cx="508000" cy="508000"/>
          </a:xfrm>
          <a:prstGeom prst="roundRect">
            <a:avLst/>
          </a:prstGeom>
          <a:solidFill>
            <a:srgbClr val="FEE2E2"/>
          </a:solidFill>
          <a:ln w="12700" cap="flat" cmpd="sng" algn="ctr">
            <a:solidFill>
              <a:srgbClr val="EF444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AB7F0DE-F12E-264D-B08B-9DE76B241739}"/>
              </a:ext>
            </a:extLst>
          </p:cNvPr>
          <p:cNvSpPr/>
          <p:nvPr/>
        </p:nvSpPr>
        <p:spPr>
          <a:xfrm>
            <a:off x="3352800" y="3340100"/>
            <a:ext cx="508000" cy="508000"/>
          </a:xfrm>
          <a:prstGeom prst="roundRect">
            <a:avLst/>
          </a:prstGeom>
          <a:solidFill>
            <a:srgbClr val="F1F5F9"/>
          </a:solidFill>
          <a:ln w="12700" cap="flat" cmpd="sng" algn="ctr">
            <a:solidFill>
              <a:srgbClr val="6474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B14D3353-1D59-C84D-AECF-B4399456F994}"/>
              </a:ext>
            </a:extLst>
          </p:cNvPr>
          <p:cNvSpPr/>
          <p:nvPr/>
        </p:nvSpPr>
        <p:spPr>
          <a:xfrm>
            <a:off x="4572000" y="2400300"/>
            <a:ext cx="3048000" cy="508000"/>
          </a:xfrm>
          <a:prstGeom prst="roundRect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B6DBA8-91ED-E942-8BFE-3A4B82EF5952}"/>
              </a:ext>
            </a:extLst>
          </p:cNvPr>
          <p:cNvSpPr txBox="1"/>
          <p:nvPr/>
        </p:nvSpPr>
        <p:spPr>
          <a:xfrm>
            <a:off x="4673600" y="2501900"/>
            <a:ext cx="2794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 b="1">
                <a:solidFill>
                  <a:srgbClr val="1A1A2E"/>
                </a:solidFill>
              </a:rPr>
              <a:t>🥉 브론즈  </a:t>
            </a:r>
            <a:r>
              <a:rPr lang="en-US" altLang="ko-KR" sz="900" b="1">
                <a:solidFill>
                  <a:srgbClr val="1A1A2E"/>
                </a:solidFill>
              </a:rPr>
              <a:t>·  </a:t>
            </a:r>
            <a:r>
              <a:rPr lang="ko-KR" altLang="en-US" sz="900" b="1">
                <a:solidFill>
                  <a:srgbClr val="1A1A2E"/>
                </a:solidFill>
              </a:rPr>
              <a:t>이번 주 </a:t>
            </a:r>
            <a:r>
              <a:rPr lang="en-US" altLang="ko-KR" sz="900" b="1">
                <a:solidFill>
                  <a:srgbClr val="1A1A2E"/>
                </a:solidFill>
              </a:rPr>
              <a:t>5</a:t>
            </a:r>
            <a:r>
              <a:rPr lang="ko-KR" altLang="en-US" sz="900" b="1">
                <a:solidFill>
                  <a:srgbClr val="1A1A2E"/>
                </a:solidFill>
              </a:rPr>
              <a:t>위  </a:t>
            </a:r>
            <a:r>
              <a:rPr lang="en-US" altLang="ko-KR" sz="900" b="1">
                <a:solidFill>
                  <a:srgbClr val="1A1A2E"/>
                </a:solidFill>
              </a:rPr>
              <a:t>·  280XP</a:t>
            </a:r>
            <a:endParaRPr lang="ko-KR" altLang="en-US" sz="900" b="1">
              <a:solidFill>
                <a:srgbClr val="1A1A2E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9CE6292E-A42C-C945-8E1B-A2116BDA74FD}"/>
              </a:ext>
            </a:extLst>
          </p:cNvPr>
          <p:cNvSpPr/>
          <p:nvPr/>
        </p:nvSpPr>
        <p:spPr>
          <a:xfrm>
            <a:off x="4572000" y="2971800"/>
            <a:ext cx="1143000" cy="2286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800" b="1">
                <a:solidFill>
                  <a:srgbClr val="FFFFFF"/>
                </a:solidFill>
              </a:rPr>
              <a:t>이번 주 순위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47C7C4D8-5479-1B4E-B35F-B32B53879F2A}"/>
              </a:ext>
            </a:extLst>
          </p:cNvPr>
          <p:cNvSpPr/>
          <p:nvPr/>
        </p:nvSpPr>
        <p:spPr>
          <a:xfrm>
            <a:off x="5778500" y="2971800"/>
            <a:ext cx="1143000" cy="228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CBD5E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800">
                <a:solidFill>
                  <a:srgbClr val="64748B"/>
                </a:solidFill>
              </a:rPr>
              <a:t>명예의 전당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4278A6D4-7916-6F4E-A5B0-8F95FE4BD8C9}"/>
              </a:ext>
            </a:extLst>
          </p:cNvPr>
          <p:cNvSpPr/>
          <p:nvPr/>
        </p:nvSpPr>
        <p:spPr>
          <a:xfrm>
            <a:off x="4572000" y="3327400"/>
            <a:ext cx="3048000" cy="279400"/>
          </a:xfrm>
          <a:prstGeom prst="roundRect">
            <a:avLst/>
          </a:prstGeom>
          <a:solidFill>
            <a:srgbClr val="FEF3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FE0668-2936-6746-9345-3ECB9EA5A30E}"/>
              </a:ext>
            </a:extLst>
          </p:cNvPr>
          <p:cNvSpPr txBox="1"/>
          <p:nvPr/>
        </p:nvSpPr>
        <p:spPr>
          <a:xfrm>
            <a:off x="4673600" y="3378200"/>
            <a:ext cx="279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1A1A2E"/>
                </a:solidFill>
              </a:rPr>
              <a:t>🥇 </a:t>
            </a:r>
            <a:r>
              <a:rPr lang="en-US" altLang="ko-KR" sz="900">
                <a:solidFill>
                  <a:srgbClr val="1A1A2E"/>
                </a:solidFill>
              </a:rPr>
              <a:t>1   </a:t>
            </a:r>
            <a:r>
              <a:rPr lang="ko-KR" altLang="en-US" sz="900">
                <a:solidFill>
                  <a:srgbClr val="1A1A2E"/>
                </a:solidFill>
              </a:rPr>
              <a:t>알파      </a:t>
            </a:r>
            <a:r>
              <a:rPr lang="en-US" altLang="ko-KR" sz="900">
                <a:solidFill>
                  <a:srgbClr val="1A1A2E"/>
                </a:solidFill>
              </a:rPr>
              <a:t>1,240 XP</a:t>
            </a:r>
            <a:endParaRPr lang="ko-KR" altLang="en-US" sz="900">
              <a:solidFill>
                <a:srgbClr val="1A1A2E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DD03634E-DFAC-294F-98B3-5891503F2FA5}"/>
              </a:ext>
            </a:extLst>
          </p:cNvPr>
          <p:cNvSpPr/>
          <p:nvPr/>
        </p:nvSpPr>
        <p:spPr>
          <a:xfrm>
            <a:off x="4572000" y="3683000"/>
            <a:ext cx="3048000" cy="279400"/>
          </a:xfrm>
          <a:prstGeom prst="round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CE03A3-ADF4-0843-9F93-8898417AF7C9}"/>
              </a:ext>
            </a:extLst>
          </p:cNvPr>
          <p:cNvSpPr txBox="1"/>
          <p:nvPr/>
        </p:nvSpPr>
        <p:spPr>
          <a:xfrm>
            <a:off x="4673600" y="3733800"/>
            <a:ext cx="279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1A1A2E"/>
                </a:solidFill>
              </a:rPr>
              <a:t>🥈 </a:t>
            </a:r>
            <a:r>
              <a:rPr lang="en-US" altLang="ko-KR" sz="900">
                <a:solidFill>
                  <a:srgbClr val="1A1A2E"/>
                </a:solidFill>
              </a:rPr>
              <a:t>2   </a:t>
            </a:r>
            <a:r>
              <a:rPr lang="ko-KR" altLang="en-US" sz="900">
                <a:solidFill>
                  <a:srgbClr val="1A1A2E"/>
                </a:solidFill>
              </a:rPr>
              <a:t>베타      </a:t>
            </a:r>
            <a:r>
              <a:rPr lang="en-US" altLang="ko-KR" sz="900">
                <a:solidFill>
                  <a:srgbClr val="1A1A2E"/>
                </a:solidFill>
              </a:rPr>
              <a:t>1,080 XP</a:t>
            </a:r>
            <a:endParaRPr lang="ko-KR" altLang="en-US" sz="900">
              <a:solidFill>
                <a:srgbClr val="1A1A2E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8D549E4F-C645-C346-A089-9547B04D0DB6}"/>
              </a:ext>
            </a:extLst>
          </p:cNvPr>
          <p:cNvSpPr/>
          <p:nvPr/>
        </p:nvSpPr>
        <p:spPr>
          <a:xfrm>
            <a:off x="4572000" y="4038600"/>
            <a:ext cx="3048000" cy="279400"/>
          </a:xfrm>
          <a:prstGeom prst="roundRect">
            <a:avLst/>
          </a:prstGeom>
          <a:solidFill>
            <a:srgbClr val="FFEDD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8A8910-10BC-1943-8493-51D6E1366928}"/>
              </a:ext>
            </a:extLst>
          </p:cNvPr>
          <p:cNvSpPr txBox="1"/>
          <p:nvPr/>
        </p:nvSpPr>
        <p:spPr>
          <a:xfrm>
            <a:off x="4673600" y="4089400"/>
            <a:ext cx="279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>
                <a:solidFill>
                  <a:srgbClr val="1A1A2E"/>
                </a:solidFill>
              </a:rPr>
              <a:t>🥉 </a:t>
            </a:r>
            <a:r>
              <a:rPr lang="en-US" altLang="ko-KR" sz="900">
                <a:solidFill>
                  <a:srgbClr val="1A1A2E"/>
                </a:solidFill>
              </a:rPr>
              <a:t>3   </a:t>
            </a:r>
            <a:r>
              <a:rPr lang="ko-KR" altLang="en-US" sz="900">
                <a:solidFill>
                  <a:srgbClr val="1A1A2E"/>
                </a:solidFill>
              </a:rPr>
              <a:t>감마      </a:t>
            </a:r>
            <a:r>
              <a:rPr lang="en-US" altLang="ko-KR" sz="900">
                <a:solidFill>
                  <a:srgbClr val="1A1A2E"/>
                </a:solidFill>
              </a:rPr>
              <a:t>890 XP</a:t>
            </a:r>
            <a:endParaRPr lang="ko-KR" altLang="en-US" sz="900">
              <a:solidFill>
                <a:srgbClr val="1A1A2E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44E68ADE-1DED-A442-9964-30FDA3A289FF}"/>
              </a:ext>
            </a:extLst>
          </p:cNvPr>
          <p:cNvSpPr/>
          <p:nvPr/>
        </p:nvSpPr>
        <p:spPr>
          <a:xfrm>
            <a:off x="4572000" y="4394200"/>
            <a:ext cx="3048000" cy="279400"/>
          </a:xfrm>
          <a:prstGeom prst="roundRect">
            <a:avLst/>
          </a:prstGeom>
          <a:solidFill>
            <a:srgbClr val="D1FA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EAF862-06D7-B342-BFE5-EC38FF2EDDB1}"/>
              </a:ext>
            </a:extLst>
          </p:cNvPr>
          <p:cNvSpPr txBox="1"/>
          <p:nvPr/>
        </p:nvSpPr>
        <p:spPr>
          <a:xfrm>
            <a:off x="4673600" y="4445000"/>
            <a:ext cx="2794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900" b="1">
                <a:solidFill>
                  <a:srgbClr val="1A1A2E"/>
                </a:solidFill>
              </a:rPr>
              <a:t>  </a:t>
            </a:r>
            <a:r>
              <a:rPr lang="en-US" altLang="ko-KR" sz="900" b="1">
                <a:solidFill>
                  <a:srgbClr val="1A1A2E"/>
                </a:solidFill>
              </a:rPr>
              <a:t>5   </a:t>
            </a:r>
            <a:r>
              <a:rPr lang="ko-KR" altLang="en-US" sz="900" b="1">
                <a:solidFill>
                  <a:srgbClr val="1A1A2E"/>
                </a:solidFill>
              </a:rPr>
              <a:t>내 닉네임      </a:t>
            </a:r>
            <a:r>
              <a:rPr lang="en-US" altLang="ko-KR" sz="900" b="1">
                <a:solidFill>
                  <a:srgbClr val="1A1A2E"/>
                </a:solidFill>
              </a:rPr>
              <a:t>280 XP</a:t>
            </a:r>
            <a:endParaRPr lang="ko-KR" altLang="en-US" sz="900" b="1">
              <a:solidFill>
                <a:srgbClr val="1A1A2E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4D03589B-1D81-644A-8264-191075BD380B}"/>
              </a:ext>
            </a:extLst>
          </p:cNvPr>
          <p:cNvSpPr/>
          <p:nvPr/>
        </p:nvSpPr>
        <p:spPr>
          <a:xfrm>
            <a:off x="8509000" y="2489200"/>
            <a:ext cx="2286000" cy="101600"/>
          </a:xfrm>
          <a:prstGeom prst="roundRect">
            <a:avLst/>
          </a:prstGeom>
          <a:solidFill>
            <a:srgbClr val="E5E7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1E26B91A-418F-E14B-BD7D-6461AEC39E1E}"/>
              </a:ext>
            </a:extLst>
          </p:cNvPr>
          <p:cNvSpPr/>
          <p:nvPr/>
        </p:nvSpPr>
        <p:spPr>
          <a:xfrm>
            <a:off x="8509000" y="2489200"/>
            <a:ext cx="1270000" cy="1016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9DDC0D-D222-4A47-A803-F3E3B8C266C5}"/>
              </a:ext>
            </a:extLst>
          </p:cNvPr>
          <p:cNvSpPr txBox="1"/>
          <p:nvPr/>
        </p:nvSpPr>
        <p:spPr>
          <a:xfrm>
            <a:off x="8280400" y="2413000"/>
            <a:ext cx="20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64748B"/>
                </a:solidFill>
              </a:rPr>
              <a:t>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D539C4-B532-4241-8122-BD1704F1479E}"/>
              </a:ext>
            </a:extLst>
          </p:cNvPr>
          <p:cNvSpPr txBox="1"/>
          <p:nvPr/>
        </p:nvSpPr>
        <p:spPr>
          <a:xfrm>
            <a:off x="10858500" y="2438400"/>
            <a:ext cx="381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800">
                <a:solidFill>
                  <a:srgbClr val="64748B"/>
                </a:solidFill>
              </a:rPr>
              <a:t>4/7</a:t>
            </a:r>
            <a:endParaRPr lang="ko-KR" altLang="en-US" sz="800">
              <a:solidFill>
                <a:srgbClr val="64748B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74C1AE3B-8741-3E42-8977-69BC587929DB}"/>
              </a:ext>
            </a:extLst>
          </p:cNvPr>
          <p:cNvSpPr/>
          <p:nvPr/>
        </p:nvSpPr>
        <p:spPr>
          <a:xfrm>
            <a:off x="8255000" y="2717800"/>
            <a:ext cx="3048000" cy="10160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FEB29A-C81A-DE4A-AC7A-7511141D6F97}"/>
              </a:ext>
            </a:extLst>
          </p:cNvPr>
          <p:cNvSpPr txBox="1"/>
          <p:nvPr/>
        </p:nvSpPr>
        <p:spPr>
          <a:xfrm>
            <a:off x="8356600" y="2971800"/>
            <a:ext cx="2844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 b="1">
                <a:solidFill>
                  <a:srgbClr val="1A1A2E"/>
                </a:solidFill>
              </a:rPr>
              <a:t>Q. “</a:t>
            </a:r>
            <a:r>
              <a:rPr lang="ko-KR" altLang="en-US" sz="1000" b="1">
                <a:solidFill>
                  <a:srgbClr val="1A1A2E"/>
                </a:solidFill>
              </a:rPr>
              <a:t>주식”에 대한 설명으로 옳은 것은</a:t>
            </a:r>
            <a:r>
              <a:rPr lang="en-US" altLang="ko-KR" sz="1000" b="1">
                <a:solidFill>
                  <a:srgbClr val="1A1A2E"/>
                </a:solidFill>
              </a:rPr>
              <a:t>?</a:t>
            </a:r>
            <a:endParaRPr lang="ko-KR" altLang="en-US" sz="1000" b="1">
              <a:solidFill>
                <a:srgbClr val="1A1A2E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45D33B3C-9F11-9F48-A935-13210DBBB15C}"/>
              </a:ext>
            </a:extLst>
          </p:cNvPr>
          <p:cNvSpPr/>
          <p:nvPr/>
        </p:nvSpPr>
        <p:spPr>
          <a:xfrm>
            <a:off x="8255000" y="3835400"/>
            <a:ext cx="3048000" cy="25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46C411-2A27-FA4C-BBBE-514E6E42FD9C}"/>
              </a:ext>
            </a:extLst>
          </p:cNvPr>
          <p:cNvSpPr txBox="1"/>
          <p:nvPr/>
        </p:nvSpPr>
        <p:spPr>
          <a:xfrm>
            <a:off x="8356600" y="3873500"/>
            <a:ext cx="284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800">
                <a:solidFill>
                  <a:srgbClr val="1A1A2E"/>
                </a:solidFill>
              </a:rPr>
              <a:t>ⓐ 회사의 빚을 의미하는 증권</a:t>
            </a: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3E312484-CFD2-014F-BDA2-B8B412D8E501}"/>
              </a:ext>
            </a:extLst>
          </p:cNvPr>
          <p:cNvSpPr/>
          <p:nvPr/>
        </p:nvSpPr>
        <p:spPr>
          <a:xfrm>
            <a:off x="8255000" y="4140200"/>
            <a:ext cx="3048000" cy="254000"/>
          </a:xfrm>
          <a:prstGeom prst="roundRect">
            <a:avLst/>
          </a:prstGeom>
          <a:solidFill>
            <a:srgbClr val="DBEAFE"/>
          </a:solidFill>
          <a:ln w="12700" cap="flat" cmpd="sng" algn="ctr">
            <a:solidFill>
              <a:srgbClr val="4154F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AA4123-4A83-8C42-9018-DDE89EFB0069}"/>
              </a:ext>
            </a:extLst>
          </p:cNvPr>
          <p:cNvSpPr txBox="1"/>
          <p:nvPr/>
        </p:nvSpPr>
        <p:spPr>
          <a:xfrm>
            <a:off x="8356600" y="4178300"/>
            <a:ext cx="284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800" b="1">
                <a:solidFill>
                  <a:srgbClr val="4154F1"/>
                </a:solidFill>
              </a:rPr>
              <a:t>ⓑ 회사의 소유권을 일부 갖는 증권</a:t>
            </a: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CCBDBDE4-A3D1-BB4D-BFFA-C78CD118D937}"/>
              </a:ext>
            </a:extLst>
          </p:cNvPr>
          <p:cNvSpPr/>
          <p:nvPr/>
        </p:nvSpPr>
        <p:spPr>
          <a:xfrm>
            <a:off x="8255000" y="4445000"/>
            <a:ext cx="3048000" cy="25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DD82B4-D9DF-5443-93E0-692E1BD385E3}"/>
              </a:ext>
            </a:extLst>
          </p:cNvPr>
          <p:cNvSpPr txBox="1"/>
          <p:nvPr/>
        </p:nvSpPr>
        <p:spPr>
          <a:xfrm>
            <a:off x="8356600" y="4483100"/>
            <a:ext cx="284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800">
                <a:solidFill>
                  <a:srgbClr val="1A1A2E"/>
                </a:solidFill>
              </a:rPr>
              <a:t>ⓒ 정부가 발행하는 채무 증서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D04D80BA-F649-E543-AD64-2CB50CE3636C}"/>
              </a:ext>
            </a:extLst>
          </p:cNvPr>
          <p:cNvSpPr/>
          <p:nvPr/>
        </p:nvSpPr>
        <p:spPr>
          <a:xfrm>
            <a:off x="8255000" y="4749800"/>
            <a:ext cx="3048000" cy="25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55B5D9-9719-FF46-8C4E-0DF5D4FD737C}"/>
              </a:ext>
            </a:extLst>
          </p:cNvPr>
          <p:cNvSpPr txBox="1"/>
          <p:nvPr/>
        </p:nvSpPr>
        <p:spPr>
          <a:xfrm>
            <a:off x="8356600" y="4787900"/>
            <a:ext cx="2844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800">
                <a:solidFill>
                  <a:srgbClr val="1A1A2E"/>
                </a:solidFill>
              </a:rPr>
              <a:t>ⓓ 은행 예금의 한 종류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1255CD3C-9F6D-0A4D-974C-1E5A2DA264C6}"/>
              </a:ext>
            </a:extLst>
          </p:cNvPr>
          <p:cNvSpPr/>
          <p:nvPr/>
        </p:nvSpPr>
        <p:spPr>
          <a:xfrm>
            <a:off x="9080500" y="5257800"/>
            <a:ext cx="1397000" cy="3302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FFFFFF"/>
                </a:solidFill>
              </a:rPr>
              <a:t>확인 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269C39-203F-5241-9C28-9DF3F1FB42A1}"/>
              </a:ext>
            </a:extLst>
          </p:cNvPr>
          <p:cNvSpPr txBox="1"/>
          <p:nvPr/>
        </p:nvSpPr>
        <p:spPr>
          <a:xfrm>
            <a:off x="762000" y="58420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64748B"/>
                </a:solidFill>
              </a:rPr>
              <a:t>큰 아바타 </a:t>
            </a:r>
            <a:r>
              <a:rPr lang="en-US" altLang="ko-KR" sz="1100">
                <a:solidFill>
                  <a:srgbClr val="64748B"/>
                </a:solidFill>
              </a:rPr>
              <a:t>+ </a:t>
            </a:r>
            <a:r>
              <a:rPr lang="ko-KR" altLang="en-US" sz="1100">
                <a:solidFill>
                  <a:srgbClr val="64748B"/>
                </a:solidFill>
              </a:rPr>
              <a:t>슬롯 탭 </a:t>
            </a:r>
            <a:r>
              <a:rPr lang="en-US" altLang="ko-KR" sz="1100">
                <a:solidFill>
                  <a:srgbClr val="64748B"/>
                </a:solidFill>
              </a:rPr>
              <a:t>+ </a:t>
            </a:r>
            <a:r>
              <a:rPr lang="ko-KR" altLang="en-US" sz="1100">
                <a:solidFill>
                  <a:srgbClr val="64748B"/>
                </a:solidFill>
              </a:rPr>
              <a:t>아이템 그리드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9B2191-BB37-3B4C-8C0B-9C4783A61464}"/>
              </a:ext>
            </a:extLst>
          </p:cNvPr>
          <p:cNvSpPr txBox="1"/>
          <p:nvPr/>
        </p:nvSpPr>
        <p:spPr>
          <a:xfrm>
            <a:off x="4445000" y="58420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64748B"/>
                </a:solidFill>
              </a:rPr>
              <a:t>내 카드 </a:t>
            </a:r>
            <a:r>
              <a:rPr lang="en-US" altLang="ko-KR" sz="1100">
                <a:solidFill>
                  <a:srgbClr val="64748B"/>
                </a:solidFill>
              </a:rPr>
              <a:t>+ </a:t>
            </a:r>
            <a:r>
              <a:rPr lang="ko-KR" altLang="en-US" sz="1100">
                <a:solidFill>
                  <a:srgbClr val="64748B"/>
                </a:solidFill>
              </a:rPr>
              <a:t>탭 </a:t>
            </a:r>
            <a:r>
              <a:rPr lang="en-US" altLang="ko-KR" sz="1100">
                <a:solidFill>
                  <a:srgbClr val="64748B"/>
                </a:solidFill>
              </a:rPr>
              <a:t>+ 1·2·3</a:t>
            </a:r>
            <a:r>
              <a:rPr lang="ko-KR" altLang="en-US" sz="1100">
                <a:solidFill>
                  <a:srgbClr val="64748B"/>
                </a:solidFill>
              </a:rPr>
              <a:t>위 금</a:t>
            </a:r>
            <a:r>
              <a:rPr lang="en-US" altLang="ko-KR" sz="1100">
                <a:solidFill>
                  <a:srgbClr val="64748B"/>
                </a:solidFill>
              </a:rPr>
              <a:t>·</a:t>
            </a:r>
            <a:r>
              <a:rPr lang="ko-KR" altLang="en-US" sz="1100">
                <a:solidFill>
                  <a:srgbClr val="64748B"/>
                </a:solidFill>
              </a:rPr>
              <a:t>은</a:t>
            </a:r>
            <a:r>
              <a:rPr lang="en-US" altLang="ko-KR" sz="1100">
                <a:solidFill>
                  <a:srgbClr val="64748B"/>
                </a:solidFill>
              </a:rPr>
              <a:t>·</a:t>
            </a:r>
            <a:r>
              <a:rPr lang="ko-KR" altLang="en-US" sz="1100">
                <a:solidFill>
                  <a:srgbClr val="64748B"/>
                </a:solidFill>
              </a:rPr>
              <a:t>동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959184-FA31-D64B-9A93-87FFC700721B}"/>
              </a:ext>
            </a:extLst>
          </p:cNvPr>
          <p:cNvSpPr txBox="1"/>
          <p:nvPr/>
        </p:nvSpPr>
        <p:spPr>
          <a:xfrm>
            <a:off x="8128000" y="58420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64748B"/>
                </a:solidFill>
              </a:rPr>
              <a:t>진행바 </a:t>
            </a:r>
            <a:r>
              <a:rPr lang="en-US" altLang="ko-KR" sz="1100">
                <a:solidFill>
                  <a:srgbClr val="64748B"/>
                </a:solidFill>
              </a:rPr>
              <a:t>+ 4</a:t>
            </a:r>
            <a:r>
              <a:rPr lang="ko-KR" altLang="en-US" sz="1100">
                <a:solidFill>
                  <a:srgbClr val="64748B"/>
                </a:solidFill>
              </a:rPr>
              <a:t>지선다 </a:t>
            </a:r>
            <a:r>
              <a:rPr lang="en-US" altLang="ko-KR" sz="1100">
                <a:solidFill>
                  <a:srgbClr val="64748B"/>
                </a:solidFill>
              </a:rPr>
              <a:t>+ </a:t>
            </a:r>
            <a:r>
              <a:rPr lang="ko-KR" altLang="en-US" sz="1100">
                <a:solidFill>
                  <a:srgbClr val="64748B"/>
                </a:solidFill>
              </a:rPr>
              <a:t>즉시 피드백</a:t>
            </a:r>
          </a:p>
        </p:txBody>
      </p:sp>
    </p:spTree>
    <p:extLst>
      <p:ext uri="{BB962C8B-B14F-4D97-AF65-F5344CB8AC3E}">
        <p14:creationId xmlns:p14="http://schemas.microsoft.com/office/powerpoint/2010/main" val="204131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46CBA0-F248-5C4D-B07B-C98FCEB66BC7}"/>
              </a:ext>
            </a:extLst>
          </p:cNvPr>
          <p:cNvSpPr txBox="1"/>
          <p:nvPr/>
        </p:nvSpPr>
        <p:spPr>
          <a:xfrm>
            <a:off x="762000" y="50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 b="1">
                <a:solidFill>
                  <a:srgbClr val="7C5CFC"/>
                </a:solidFill>
              </a:rPr>
              <a:t>슬라이드 </a:t>
            </a:r>
            <a:r>
              <a:rPr lang="en-US" altLang="ko-KR" sz="1100" b="1">
                <a:solidFill>
                  <a:srgbClr val="7C5CFC"/>
                </a:solidFill>
              </a:rPr>
              <a:t>16</a:t>
            </a:r>
            <a:endParaRPr lang="ko-KR" altLang="en-US" sz="1100" b="1">
              <a:solidFill>
                <a:srgbClr val="7C5CF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B08E6-F676-134A-A342-4FA3C411FE58}"/>
              </a:ext>
            </a:extLst>
          </p:cNvPr>
          <p:cNvSpPr txBox="1"/>
          <p:nvPr/>
        </p:nvSpPr>
        <p:spPr>
          <a:xfrm>
            <a:off x="762000" y="8128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1A1A2E"/>
                </a:solidFill>
              </a:rPr>
              <a:t>기술 스택 및 마무리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134506-C797-9B41-BEDF-3FAFC6D13876}"/>
              </a:ext>
            </a:extLst>
          </p:cNvPr>
          <p:cNvSpPr/>
          <p:nvPr/>
        </p:nvSpPr>
        <p:spPr>
          <a:xfrm>
            <a:off x="762000" y="1549400"/>
            <a:ext cx="762000" cy="508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990C90-C2A1-AC49-BF2C-902BDEB25677}"/>
              </a:ext>
            </a:extLst>
          </p:cNvPr>
          <p:cNvSpPr txBox="1"/>
          <p:nvPr/>
        </p:nvSpPr>
        <p:spPr>
          <a:xfrm>
            <a:off x="762000" y="1905000"/>
            <a:ext cx="533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4154F1"/>
                </a:solidFill>
              </a:rPr>
              <a:t>기술 스택 </a:t>
            </a:r>
            <a:r>
              <a:rPr lang="en-US" altLang="ko-KR" sz="1300" b="1">
                <a:solidFill>
                  <a:srgbClr val="4154F1"/>
                </a:solidFill>
              </a:rPr>
              <a:t>(</a:t>
            </a:r>
            <a:r>
              <a:rPr lang="ko-KR" altLang="en-US" sz="1300" b="1">
                <a:solidFill>
                  <a:srgbClr val="4154F1"/>
                </a:solidFill>
              </a:rPr>
              <a:t>예정</a:t>
            </a:r>
            <a:r>
              <a:rPr lang="en-US" altLang="ko-KR" sz="1300" b="1">
                <a:solidFill>
                  <a:srgbClr val="4154F1"/>
                </a:solidFill>
              </a:rPr>
              <a:t>)</a:t>
            </a:r>
            <a:endParaRPr lang="ko-KR" altLang="en-US" sz="1300" b="1">
              <a:solidFill>
                <a:srgbClr val="4154F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9EF65F3-4846-8F42-A847-FB422E58256C}"/>
              </a:ext>
            </a:extLst>
          </p:cNvPr>
          <p:cNvSpPr/>
          <p:nvPr/>
        </p:nvSpPr>
        <p:spPr>
          <a:xfrm>
            <a:off x="762000" y="2336800"/>
            <a:ext cx="5334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F77D7C-AB10-F748-8963-6A5671B35AD0}"/>
              </a:ext>
            </a:extLst>
          </p:cNvPr>
          <p:cNvSpPr/>
          <p:nvPr/>
        </p:nvSpPr>
        <p:spPr>
          <a:xfrm>
            <a:off x="762000" y="2336800"/>
            <a:ext cx="50800" cy="6096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ch0">
            <a:extLst>
              <a:ext uri="{FF2B5EF4-FFF2-40B4-BE49-F238E27FC236}">
                <a16:creationId xmlns:a16="http://schemas.microsoft.com/office/drawing/2014/main" id="{E8F311D4-7937-F947-9510-DA5B0C8413C5}"/>
              </a:ext>
            </a:extLst>
          </p:cNvPr>
          <p:cNvSpPr txBox="1"/>
          <p:nvPr/>
        </p:nvSpPr>
        <p:spPr>
          <a:xfrm>
            <a:off x="990600" y="2413000"/>
            <a:ext cx="5029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프런트</a:t>
            </a:r>
          </a:p>
          <a:p>
            <a:pPr>
              <a:spcBef>
                <a:spcPts val="1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HTML · CSS · JavaScript (프레임워크 없음, ES Modules)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779AAD8-5F9E-104C-8006-EC6BB037B9F9}"/>
              </a:ext>
            </a:extLst>
          </p:cNvPr>
          <p:cNvSpPr/>
          <p:nvPr/>
        </p:nvSpPr>
        <p:spPr>
          <a:xfrm>
            <a:off x="762000" y="3048000"/>
            <a:ext cx="5334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2EE8A3-58B5-DD49-994E-1A893060813F}"/>
              </a:ext>
            </a:extLst>
          </p:cNvPr>
          <p:cNvSpPr/>
          <p:nvPr/>
        </p:nvSpPr>
        <p:spPr>
          <a:xfrm>
            <a:off x="762000" y="3048000"/>
            <a:ext cx="50800" cy="609600"/>
          </a:xfrm>
          <a:prstGeom prst="rect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ch1">
            <a:extLst>
              <a:ext uri="{FF2B5EF4-FFF2-40B4-BE49-F238E27FC236}">
                <a16:creationId xmlns:a16="http://schemas.microsoft.com/office/drawing/2014/main" id="{93F2995B-187D-B54F-B9CF-4005706A1323}"/>
              </a:ext>
            </a:extLst>
          </p:cNvPr>
          <p:cNvSpPr txBox="1"/>
          <p:nvPr/>
        </p:nvSpPr>
        <p:spPr>
          <a:xfrm>
            <a:off x="990600" y="3124200"/>
            <a:ext cx="5029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백엔드</a:t>
            </a:r>
          </a:p>
          <a:p>
            <a:pPr>
              <a:spcBef>
                <a:spcPts val="1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PHP (InfinityFree 호환) · MySQL (PDO · 트랜잭션)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15AEB55-22E3-574D-BD8B-D6CE73E155CB}"/>
              </a:ext>
            </a:extLst>
          </p:cNvPr>
          <p:cNvSpPr/>
          <p:nvPr/>
        </p:nvSpPr>
        <p:spPr>
          <a:xfrm>
            <a:off x="762000" y="3759200"/>
            <a:ext cx="5334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89CB42-E3DF-3A4E-AF03-3A8512061F4E}"/>
              </a:ext>
            </a:extLst>
          </p:cNvPr>
          <p:cNvSpPr/>
          <p:nvPr/>
        </p:nvSpPr>
        <p:spPr>
          <a:xfrm>
            <a:off x="762000" y="3759200"/>
            <a:ext cx="50800" cy="609600"/>
          </a:xfrm>
          <a:prstGeom prst="rect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ch2">
            <a:extLst>
              <a:ext uri="{FF2B5EF4-FFF2-40B4-BE49-F238E27FC236}">
                <a16:creationId xmlns:a16="http://schemas.microsoft.com/office/drawing/2014/main" id="{FDCEC152-EDA2-AF45-9A08-9E629D5E3FE2}"/>
              </a:ext>
            </a:extLst>
          </p:cNvPr>
          <p:cNvSpPr txBox="1"/>
          <p:nvPr/>
        </p:nvSpPr>
        <p:spPr>
          <a:xfrm>
            <a:off x="990600" y="3835400"/>
            <a:ext cx="5029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인증</a:t>
            </a:r>
          </a:p>
          <a:p>
            <a:pPr>
              <a:spcBef>
                <a:spcPts val="1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세션 쿠키 + 계정별 session_token (phantom-session 차단)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54B6BA1-E758-3447-9DDC-0F0A3AB6BE41}"/>
              </a:ext>
            </a:extLst>
          </p:cNvPr>
          <p:cNvSpPr/>
          <p:nvPr/>
        </p:nvSpPr>
        <p:spPr>
          <a:xfrm>
            <a:off x="762000" y="4470400"/>
            <a:ext cx="5334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FDD14E-D321-0C4F-AC36-CF1F38582CDE}"/>
              </a:ext>
            </a:extLst>
          </p:cNvPr>
          <p:cNvSpPr/>
          <p:nvPr/>
        </p:nvSpPr>
        <p:spPr>
          <a:xfrm>
            <a:off x="762000" y="4470400"/>
            <a:ext cx="50800" cy="609600"/>
          </a:xfrm>
          <a:prstGeom prst="rect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ch3">
            <a:extLst>
              <a:ext uri="{FF2B5EF4-FFF2-40B4-BE49-F238E27FC236}">
                <a16:creationId xmlns:a16="http://schemas.microsoft.com/office/drawing/2014/main" id="{63D73438-96E5-9044-841C-05D2AC95C170}"/>
              </a:ext>
            </a:extLst>
          </p:cNvPr>
          <p:cNvSpPr txBox="1"/>
          <p:nvPr/>
        </p:nvSpPr>
        <p:spPr>
          <a:xfrm>
            <a:off x="990600" y="4546600"/>
            <a:ext cx="5029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아바타</a:t>
            </a:r>
          </a:p>
          <a:p>
            <a:pPr>
              <a:spcBef>
                <a:spcPts val="1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파일 기반 에셋 — DB 는 메타데이터만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EE3CEBC9-F795-3E4A-B0CE-05C172C9334A}"/>
              </a:ext>
            </a:extLst>
          </p:cNvPr>
          <p:cNvSpPr/>
          <p:nvPr/>
        </p:nvSpPr>
        <p:spPr>
          <a:xfrm>
            <a:off x="762000" y="5181600"/>
            <a:ext cx="5334000" cy="609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5E7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1A78AB-3B4C-EF4A-B615-4E358A815984}"/>
              </a:ext>
            </a:extLst>
          </p:cNvPr>
          <p:cNvSpPr/>
          <p:nvPr/>
        </p:nvSpPr>
        <p:spPr>
          <a:xfrm>
            <a:off x="762000" y="5181600"/>
            <a:ext cx="50800" cy="6096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ch4">
            <a:extLst>
              <a:ext uri="{FF2B5EF4-FFF2-40B4-BE49-F238E27FC236}">
                <a16:creationId xmlns:a16="http://schemas.microsoft.com/office/drawing/2014/main" id="{C637DE2E-A23C-E044-BCE3-5993CF5E4391}"/>
              </a:ext>
            </a:extLst>
          </p:cNvPr>
          <p:cNvSpPr txBox="1"/>
          <p:nvPr/>
        </p:nvSpPr>
        <p:spPr>
          <a:xfrm>
            <a:off x="990600" y="5257800"/>
            <a:ext cx="5029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ko-KR" sz="1300" b="1" dirty="0">
                <a:solidFill>
                  <a:srgbClr val="1A1A2E"/>
                </a:solidFill>
              </a:rPr>
              <a:t>디자인</a:t>
            </a:r>
          </a:p>
          <a:p>
            <a:pPr>
              <a:spcBef>
                <a:spcPts val="100"/>
              </a:spcBef>
              <a:buNone/>
            </a:pPr>
            <a:r>
              <a:rPr lang="ko-KR" sz="1000" dirty="0">
                <a:solidFill>
                  <a:srgbClr val="4B5563"/>
                </a:solidFill>
              </a:rPr>
              <a:t>Pretendard · CSS 변수 디자인 토큰 (#4154F1)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924A1A-F818-DC43-AEA5-E42B6CCB0EE0}"/>
              </a:ext>
            </a:extLst>
          </p:cNvPr>
          <p:cNvSpPr txBox="1"/>
          <p:nvPr/>
        </p:nvSpPr>
        <p:spPr>
          <a:xfrm>
            <a:off x="6350000" y="1905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4154F1"/>
                </a:solidFill>
              </a:rPr>
              <a:t>운영 계획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6BD2EB69-4D19-964F-A515-7DF39C396300}"/>
              </a:ext>
            </a:extLst>
          </p:cNvPr>
          <p:cNvSpPr/>
          <p:nvPr/>
        </p:nvSpPr>
        <p:spPr>
          <a:xfrm>
            <a:off x="6350000" y="2336800"/>
            <a:ext cx="5080000" cy="1651000"/>
          </a:xfrm>
          <a:prstGeom prst="roundRect">
            <a:avLst/>
          </a:prstGeom>
          <a:solidFill>
            <a:srgbClr val="F4F5F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Ops">
            <a:extLst>
              <a:ext uri="{FF2B5EF4-FFF2-40B4-BE49-F238E27FC236}">
                <a16:creationId xmlns:a16="http://schemas.microsoft.com/office/drawing/2014/main" id="{9A6F273E-364A-A549-B5F0-802F03728029}"/>
              </a:ext>
            </a:extLst>
          </p:cNvPr>
          <p:cNvSpPr txBox="1"/>
          <p:nvPr/>
        </p:nvSpPr>
        <p:spPr>
          <a:xfrm>
            <a:off x="6553200" y="2489200"/>
            <a:ext cx="46736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ko-KR" sz="1100" b="1" dirty="0">
                <a:solidFill>
                  <a:srgbClr val="1A1A2E"/>
                </a:solidFill>
              </a:rPr>
              <a:t>GitHub  </a:t>
            </a:r>
            <a:r>
              <a:rPr lang="en-US" sz="1100" dirty="0">
                <a:solidFill>
                  <a:srgbClr val="4B5563"/>
                </a:solidFill>
              </a:rPr>
              <a:t>cau-citcwalker/StdWebTech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ko-KR" sz="1100" b="1" dirty="0">
                <a:solidFill>
                  <a:srgbClr val="1A1A2E"/>
                </a:solidFill>
              </a:rPr>
              <a:t>호스팅  </a:t>
            </a:r>
            <a:r>
              <a:rPr lang="ko-KR" sz="1100" dirty="0">
                <a:solidFill>
                  <a:srgbClr val="4B5563"/>
                </a:solidFill>
              </a:rPr>
              <a:t>InfinityFree (정적 + PHP + MySQL)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ko-KR" sz="1100" b="1" dirty="0">
                <a:solidFill>
                  <a:srgbClr val="1A1A2E"/>
                </a:solidFill>
              </a:rPr>
              <a:t>커밋  </a:t>
            </a:r>
            <a:r>
              <a:rPr lang="ko-KR" sz="1100" dirty="0">
                <a:solidFill>
                  <a:srgbClr val="4B5563"/>
                </a:solidFill>
              </a:rPr>
              <a:t>Conventional Commits · TBD + PR squash merge</a:t>
            </a:r>
          </a:p>
          <a:p>
            <a:pPr marL="171450" indent="-171450">
              <a:spcBef>
                <a:spcPts val="300"/>
              </a:spcBef>
              <a:buFont typeface="Arial"/>
              <a:buChar char="•"/>
            </a:pPr>
            <a:r>
              <a:rPr lang="ko-KR" sz="1100" b="1" dirty="0">
                <a:solidFill>
                  <a:srgbClr val="1A1A2E"/>
                </a:solidFill>
              </a:rPr>
              <a:t>DB 설치  </a:t>
            </a:r>
            <a:r>
              <a:rPr lang="en-US" sz="1100" dirty="0">
                <a:solidFill>
                  <a:srgbClr val="4B5563"/>
                </a:solidFill>
              </a:rPr>
              <a:t>install.php </a:t>
            </a:r>
            <a:r>
              <a:rPr lang="ko-KR" sz="1100" dirty="0">
                <a:solidFill>
                  <a:srgbClr val="4B5563"/>
                </a:solidFill>
              </a:rPr>
              <a:t>한 번으로 schema + seed 자동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8253E4-898A-0844-BB21-C7AC4BF5ACF6}"/>
              </a:ext>
            </a:extLst>
          </p:cNvPr>
          <p:cNvSpPr txBox="1"/>
          <p:nvPr/>
        </p:nvSpPr>
        <p:spPr>
          <a:xfrm>
            <a:off x="6350000" y="41402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300" b="1">
                <a:solidFill>
                  <a:srgbClr val="4154F1"/>
                </a:solidFill>
              </a:rPr>
              <a:t>결론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960C4018-4E20-EA43-9215-8E198FD6CCCA}"/>
              </a:ext>
            </a:extLst>
          </p:cNvPr>
          <p:cNvSpPr/>
          <p:nvPr/>
        </p:nvSpPr>
        <p:spPr>
          <a:xfrm>
            <a:off x="6350000" y="4572000"/>
            <a:ext cx="5080000" cy="17780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Concl">
            <a:extLst>
              <a:ext uri="{FF2B5EF4-FFF2-40B4-BE49-F238E27FC236}">
                <a16:creationId xmlns:a16="http://schemas.microsoft.com/office/drawing/2014/main" id="{AC69484F-D175-6148-ABCC-CCF9906433F3}"/>
              </a:ext>
            </a:extLst>
          </p:cNvPr>
          <p:cNvSpPr txBox="1"/>
          <p:nvPr/>
        </p:nvSpPr>
        <p:spPr>
          <a:xfrm>
            <a:off x="6553200" y="4775200"/>
            <a:ext cx="46736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ko-KR" sz="1300" b="1" dirty="0">
                <a:solidFill>
                  <a:srgbClr val="FFFFFF"/>
                </a:solidFill>
              </a:rPr>
              <a:t>5분짜리 짧은 레슨 + 캐릭터 옷차림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00" b="1" dirty="0">
                <a:solidFill>
                  <a:srgbClr val="FFFFFF"/>
                </a:solidFill>
              </a:rPr>
              <a:t>+ 마켓 · 친구 · 리그의 게임 메커닉으로,</a:t>
            </a:r>
          </a:p>
          <a:p>
            <a:pPr algn="ctr">
              <a:spcBef>
                <a:spcPts val="200"/>
              </a:spcBef>
              <a:buNone/>
            </a:pPr>
            <a:r>
              <a:rPr lang="ko-KR" sz="1300" b="1" dirty="0">
                <a:solidFill>
                  <a:srgbClr val="FFD56B"/>
                </a:solidFill>
              </a:rPr>
              <a:t>매일 들어오는 학습 경험을 만든다.</a:t>
            </a:r>
          </a:p>
        </p:txBody>
      </p:sp>
    </p:spTree>
    <p:extLst>
      <p:ext uri="{BB962C8B-B14F-4D97-AF65-F5344CB8AC3E}">
        <p14:creationId xmlns:p14="http://schemas.microsoft.com/office/powerpoint/2010/main" val="295119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655981-89AD-5541-B60F-BEFF8BE20F7B}"/>
              </a:ext>
            </a:extLst>
          </p:cNvPr>
          <p:cNvSpPr txBox="1"/>
          <p:nvPr/>
        </p:nvSpPr>
        <p:spPr>
          <a:xfrm>
            <a:off x="762000" y="2540000"/>
            <a:ext cx="10668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ko-KR" sz="8000" b="1" dirty="0">
                <a:solidFill>
                  <a:srgbClr val="1A1A2E"/>
                </a:solidFill>
              </a:rPr>
              <a:t>감사합니다.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6DA846-2611-114C-8CB8-3A3A1534BE91}"/>
              </a:ext>
            </a:extLst>
          </p:cNvPr>
          <p:cNvSpPr txBox="1"/>
          <p:nvPr/>
        </p:nvSpPr>
        <p:spPr>
          <a:xfrm>
            <a:off x="762000" y="3746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rgbClr val="4154F1"/>
                </a:solidFill>
              </a:rPr>
              <a:t>Thank you.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D835BF-E0AE-124A-84AC-9D7022E977DA}"/>
              </a:ext>
            </a:extLst>
          </p:cNvPr>
          <p:cNvSpPr/>
          <p:nvPr/>
        </p:nvSpPr>
        <p:spPr>
          <a:xfrm>
            <a:off x="5461000" y="4572000"/>
            <a:ext cx="1270000" cy="38100"/>
          </a:xfrm>
          <a:prstGeom prst="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00A90A-6089-F74C-A2C1-B43E1B8C7076}"/>
              </a:ext>
            </a:extLst>
          </p:cNvPr>
          <p:cNvSpPr txBox="1"/>
          <p:nvPr/>
        </p:nvSpPr>
        <p:spPr>
          <a:xfrm>
            <a:off x="762000" y="48895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ko-KR" sz="1400" dirty="0">
                <a:solidFill>
                  <a:srgbClr val="4B5563"/>
                </a:solidFill>
              </a:rPr>
              <a:t>강예준 20250813  ·  김여울 20253264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B7A49D-C2A4-CC47-BCD9-B0DC11B51DBF}"/>
              </a:ext>
            </a:extLst>
          </p:cNvPr>
          <p:cNvSpPr txBox="1"/>
          <p:nvPr/>
        </p:nvSpPr>
        <p:spPr>
          <a:xfrm>
            <a:off x="762000" y="5232400"/>
            <a:ext cx="1066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2026. 06. 02.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9DA1296F-CA13-CA4F-8F0E-B9F72F7E4C6F}"/>
              </a:ext>
            </a:extLst>
          </p:cNvPr>
          <p:cNvSpPr/>
          <p:nvPr/>
        </p:nvSpPr>
        <p:spPr>
          <a:xfrm>
            <a:off x="762000" y="635000"/>
            <a:ext cx="406400" cy="406400"/>
          </a:xfrm>
          <a:prstGeom prst="roundRect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FFFFFF"/>
                </a:solidFill>
              </a:rPr>
              <a:t>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53FE2D-266D-F34B-A44F-273B04404656}"/>
              </a:ext>
            </a:extLst>
          </p:cNvPr>
          <p:cNvSpPr txBox="1"/>
          <p:nvPr/>
        </p:nvSpPr>
        <p:spPr>
          <a:xfrm>
            <a:off x="1270000" y="6858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700" b="1">
                <a:solidFill>
                  <a:srgbClr val="1A1A2E"/>
                </a:solidFill>
              </a:rPr>
              <a:t>FinEdu</a:t>
            </a:r>
            <a:endParaRPr lang="ko-KR" altLang="en-US" sz="1700" b="1">
              <a:solidFill>
                <a:srgbClr val="1A1A2E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D01C38D-1383-4C4D-A7A5-0481E2515EDA}"/>
              </a:ext>
            </a:extLst>
          </p:cNvPr>
          <p:cNvSpPr/>
          <p:nvPr/>
        </p:nvSpPr>
        <p:spPr>
          <a:xfrm>
            <a:off x="9144000" y="698500"/>
            <a:ext cx="2286000" cy="304800"/>
          </a:xfrm>
          <a:prstGeom prst="roundRect">
            <a:avLst/>
          </a:prstGeom>
          <a:solidFill>
            <a:srgbClr val="EEF2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4154F1"/>
                </a:solidFill>
              </a:rPr>
              <a:t>주식</a:t>
            </a:r>
            <a:r>
              <a:rPr lang="en-US" altLang="ko-KR" sz="1000" b="1">
                <a:solidFill>
                  <a:srgbClr val="4154F1"/>
                </a:solidFill>
              </a:rPr>
              <a:t>, </a:t>
            </a:r>
            <a:r>
              <a:rPr lang="ko-KR" altLang="en-US" sz="1000" b="1">
                <a:solidFill>
                  <a:srgbClr val="4154F1"/>
                </a:solidFill>
              </a:rPr>
              <a:t>게임처럼 배워요</a:t>
            </a:r>
            <a:r>
              <a:rPr lang="en-US" altLang="ko-KR" sz="1000" b="1">
                <a:solidFill>
                  <a:srgbClr val="4154F1"/>
                </a:solidFill>
              </a:rPr>
              <a:t>.</a:t>
            </a:r>
            <a:endParaRPr lang="ko-KR" altLang="en-US" sz="1000" b="1">
              <a:solidFill>
                <a:srgbClr val="4154F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1A77AAD-4D97-CC42-891C-D0EFC66392D6}"/>
              </a:ext>
            </a:extLst>
          </p:cNvPr>
          <p:cNvSpPr/>
          <p:nvPr/>
        </p:nvSpPr>
        <p:spPr>
          <a:xfrm>
            <a:off x="5588000" y="5969000"/>
            <a:ext cx="127000" cy="127000"/>
          </a:xfrm>
          <a:prstGeom prst="ellipse">
            <a:avLst/>
          </a:prstGeom>
          <a:solidFill>
            <a:srgbClr val="4154F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5FBD739-F3C7-A242-BAAC-CB225F56913A}"/>
              </a:ext>
            </a:extLst>
          </p:cNvPr>
          <p:cNvSpPr/>
          <p:nvPr/>
        </p:nvSpPr>
        <p:spPr>
          <a:xfrm>
            <a:off x="5816600" y="5969000"/>
            <a:ext cx="127000" cy="127000"/>
          </a:xfrm>
          <a:prstGeom prst="ellipse">
            <a:avLst/>
          </a:prstGeom>
          <a:solidFill>
            <a:srgbClr val="7C5CF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C5FF9CC-9ACC-3145-AB63-9E8234FC27C9}"/>
              </a:ext>
            </a:extLst>
          </p:cNvPr>
          <p:cNvSpPr/>
          <p:nvPr/>
        </p:nvSpPr>
        <p:spPr>
          <a:xfrm>
            <a:off x="6045200" y="5969000"/>
            <a:ext cx="127000" cy="127000"/>
          </a:xfrm>
          <a:prstGeom prst="ellipse">
            <a:avLst/>
          </a:prstGeom>
          <a:solidFill>
            <a:srgbClr val="FFB4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78E9E84-B9A4-1643-AAFF-9E513EBC31DF}"/>
              </a:ext>
            </a:extLst>
          </p:cNvPr>
          <p:cNvSpPr/>
          <p:nvPr/>
        </p:nvSpPr>
        <p:spPr>
          <a:xfrm>
            <a:off x="6273800" y="5969000"/>
            <a:ext cx="127000" cy="127000"/>
          </a:xfrm>
          <a:prstGeom prst="ellipse">
            <a:avLst/>
          </a:prstGeom>
          <a:solidFill>
            <a:srgbClr val="10B98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829797D-0596-314E-8DDA-D9910BA76697}"/>
              </a:ext>
            </a:extLst>
          </p:cNvPr>
          <p:cNvSpPr/>
          <p:nvPr/>
        </p:nvSpPr>
        <p:spPr>
          <a:xfrm>
            <a:off x="6502400" y="5969000"/>
            <a:ext cx="127000" cy="127000"/>
          </a:xfrm>
          <a:prstGeom prst="ellipse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71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9972172446]">
  <a:themeElements>
    <a:clrScheme name="Office">
      <a:dk1>
        <a:srgbClr val="1A1A2E"/>
      </a:dk1>
      <a:lt1>
        <a:srgbClr val="FFFFFF"/>
      </a:lt1>
      <a:dk2>
        <a:srgbClr val="4154F1"/>
      </a:dk2>
      <a:lt2>
        <a:srgbClr val="F4F5FB"/>
      </a:lt2>
      <a:accent1>
        <a:srgbClr val="4154F1"/>
      </a:accent1>
      <a:accent2>
        <a:srgbClr val="7C5CFC"/>
      </a:accent2>
      <a:accent3>
        <a:srgbClr val="FFB400"/>
      </a:accent3>
      <a:accent4>
        <a:srgbClr val="EF4444"/>
      </a:accent4>
      <a:accent5>
        <a:srgbClr val="10B981"/>
      </a:accent5>
      <a:accent6>
        <a:srgbClr val="64748B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46CD01-AFE8-E745-8DE1-460A46D0985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0e7c10d-50d2-4457-84a6-ff95e78aaa3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1646</Words>
  <Application>Microsoft Macintosh PowerPoint</Application>
  <PresentationFormat>와이드스크린</PresentationFormat>
  <Paragraphs>322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Pretendard</vt:lpstr>
      <vt:lpstr>Arial</vt:lpstr>
      <vt:lpstr>Office 테마 [1779972172446]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강예준</dc:creator>
  <cp:lastModifiedBy>강예준</cp:lastModifiedBy>
  <cp:revision>5</cp:revision>
  <dcterms:created xsi:type="dcterms:W3CDTF">2026-05-28T12:36:40Z</dcterms:created>
  <dcterms:modified xsi:type="dcterms:W3CDTF">2026-05-28T13:16:29Z</dcterms:modified>
</cp:coreProperties>
</file>